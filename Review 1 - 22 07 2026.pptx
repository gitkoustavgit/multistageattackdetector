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0"/>
  </p:notesMasterIdLst>
  <p:sldIdLst>
    <p:sldId id="256" r:id="rId2"/>
    <p:sldId id="257" r:id="rId3"/>
    <p:sldId id="258" r:id="rId4"/>
    <p:sldId id="259" r:id="rId5"/>
    <p:sldId id="263" r:id="rId6"/>
    <p:sldId id="260" r:id="rId7"/>
    <p:sldId id="261"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58E2E1-8886-43B2-B986-F2B06DAA2FAC}" type="datetimeFigureOut">
              <a:rPr lang="en-IN" smtClean="0"/>
              <a:t>27-07-2026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59FDF3-42B5-4A41-B75E-186C389084C2}" type="slidenum">
              <a:rPr lang="en-IN" smtClean="0"/>
              <a:t>‹#›</a:t>
            </a:fld>
            <a:endParaRPr lang="en-IN"/>
          </a:p>
        </p:txBody>
      </p:sp>
    </p:spTree>
    <p:extLst>
      <p:ext uri="{BB962C8B-B14F-4D97-AF65-F5344CB8AC3E}">
        <p14:creationId xmlns:p14="http://schemas.microsoft.com/office/powerpoint/2010/main" val="1029858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592BF-19BE-9BF0-E2FC-07A36D054E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83AB4F9-CBB3-B18D-E917-C3B0641867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50F18A0-E201-1900-A139-E830DD3EA1D1}"/>
              </a:ext>
            </a:extLst>
          </p:cNvPr>
          <p:cNvSpPr>
            <a:spLocks noGrp="1"/>
          </p:cNvSpPr>
          <p:nvPr>
            <p:ph type="dt" sz="half" idx="10"/>
          </p:nvPr>
        </p:nvSpPr>
        <p:spPr/>
        <p:txBody>
          <a:bodyPr/>
          <a:lstStyle/>
          <a:p>
            <a:fld id="{8F3E78AE-7F97-4550-9DD8-BF69171FDC30}" type="datetime1">
              <a:rPr lang="en-IN" smtClean="0"/>
              <a:t>27-07-2026</a:t>
            </a:fld>
            <a:endParaRPr lang="en-IN"/>
          </a:p>
        </p:txBody>
      </p:sp>
      <p:sp>
        <p:nvSpPr>
          <p:cNvPr id="5" name="Footer Placeholder 4">
            <a:extLst>
              <a:ext uri="{FF2B5EF4-FFF2-40B4-BE49-F238E27FC236}">
                <a16:creationId xmlns:a16="http://schemas.microsoft.com/office/drawing/2014/main" id="{ED0906B9-B1F6-B52E-2EE0-7595B1EBF0FF}"/>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97A13AE1-F96E-D540-8DE1-8D903DB30CE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765197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2F7EA-3EC9-99AF-13A9-22A3F8B2D2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71419B-73DB-15DA-D2EE-0FC01B435F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080259-8D20-E29B-4DC5-312C3DB01BB3}"/>
              </a:ext>
            </a:extLst>
          </p:cNvPr>
          <p:cNvSpPr>
            <a:spLocks noGrp="1"/>
          </p:cNvSpPr>
          <p:nvPr>
            <p:ph type="dt" sz="half" idx="10"/>
          </p:nvPr>
        </p:nvSpPr>
        <p:spPr/>
        <p:txBody>
          <a:bodyPr/>
          <a:lstStyle/>
          <a:p>
            <a:fld id="{FEA886FF-1BA7-4533-94E6-869CE1E2970B}" type="datetime1">
              <a:rPr lang="en-IN" smtClean="0"/>
              <a:t>27-07-2026</a:t>
            </a:fld>
            <a:endParaRPr lang="en-IN"/>
          </a:p>
        </p:txBody>
      </p:sp>
      <p:sp>
        <p:nvSpPr>
          <p:cNvPr id="5" name="Footer Placeholder 4">
            <a:extLst>
              <a:ext uri="{FF2B5EF4-FFF2-40B4-BE49-F238E27FC236}">
                <a16:creationId xmlns:a16="http://schemas.microsoft.com/office/drawing/2014/main" id="{E101830E-3502-194A-88FA-DC3E0F1B309A}"/>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ECF6703C-229C-43C6-0484-38EC263AD4A9}"/>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693990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CE344-6494-09A6-A5E4-811EEE0CD2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351A0E2-2B9B-B96E-A3FD-0B26BDDBEB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67CE67-8E8A-4D0D-42DF-DDC842B1B17A}"/>
              </a:ext>
            </a:extLst>
          </p:cNvPr>
          <p:cNvSpPr>
            <a:spLocks noGrp="1"/>
          </p:cNvSpPr>
          <p:nvPr>
            <p:ph type="dt" sz="half" idx="10"/>
          </p:nvPr>
        </p:nvSpPr>
        <p:spPr/>
        <p:txBody>
          <a:bodyPr/>
          <a:lstStyle/>
          <a:p>
            <a:fld id="{93E22BD8-A2C4-424B-809A-C64DDCC305D9}" type="datetime1">
              <a:rPr lang="en-IN" smtClean="0"/>
              <a:t>27-07-2026</a:t>
            </a:fld>
            <a:endParaRPr lang="en-IN"/>
          </a:p>
        </p:txBody>
      </p:sp>
      <p:sp>
        <p:nvSpPr>
          <p:cNvPr id="5" name="Footer Placeholder 4">
            <a:extLst>
              <a:ext uri="{FF2B5EF4-FFF2-40B4-BE49-F238E27FC236}">
                <a16:creationId xmlns:a16="http://schemas.microsoft.com/office/drawing/2014/main" id="{73A78C3E-C139-1FD1-979B-D71679959D2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9932F297-889B-B694-6DD5-92F8A6AAFF7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95814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2C89C-FEA2-11F6-7988-ADD14A7B22F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0E5DE7B-A406-1142-36EA-1C14987402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4355A2B-361E-86CB-ABBE-C510D2B221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0DA5E84-A1E0-A1C4-F7E6-DA9E7B124C77}"/>
              </a:ext>
            </a:extLst>
          </p:cNvPr>
          <p:cNvSpPr>
            <a:spLocks noGrp="1"/>
          </p:cNvSpPr>
          <p:nvPr>
            <p:ph type="dt" sz="half" idx="10"/>
          </p:nvPr>
        </p:nvSpPr>
        <p:spPr/>
        <p:txBody>
          <a:bodyPr/>
          <a:lstStyle/>
          <a:p>
            <a:fld id="{B620F4BC-B3A4-46AF-9AEC-8478EF1369D5}" type="datetime1">
              <a:rPr lang="en-IN" smtClean="0"/>
              <a:t>27-07-2026</a:t>
            </a:fld>
            <a:endParaRPr lang="en-IN"/>
          </a:p>
        </p:txBody>
      </p:sp>
      <p:sp>
        <p:nvSpPr>
          <p:cNvPr id="6" name="Footer Placeholder 5">
            <a:extLst>
              <a:ext uri="{FF2B5EF4-FFF2-40B4-BE49-F238E27FC236}">
                <a16:creationId xmlns:a16="http://schemas.microsoft.com/office/drawing/2014/main" id="{D5DDA460-54C8-F2AC-C053-53FF3FAFCCD5}"/>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EE6F132A-BD40-58D2-CEEC-A1BA2B9E2EF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438223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823BE-2514-8722-ED45-41E13E46B67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4BFEE3B-6ABA-1D24-97FE-717EBBC999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653C42-4C6D-988F-42A0-8639A508A6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2B662B4-F942-A78F-394F-74F6037179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445FBE-A81E-92E1-36E3-99D1586F83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6D20C02-77C2-CB2A-62F8-60B8C62629ED}"/>
              </a:ext>
            </a:extLst>
          </p:cNvPr>
          <p:cNvSpPr>
            <a:spLocks noGrp="1"/>
          </p:cNvSpPr>
          <p:nvPr>
            <p:ph type="dt" sz="half" idx="10"/>
          </p:nvPr>
        </p:nvSpPr>
        <p:spPr/>
        <p:txBody>
          <a:bodyPr/>
          <a:lstStyle/>
          <a:p>
            <a:fld id="{4C9A2993-B405-4F4D-B968-A01C27211659}" type="datetime1">
              <a:rPr lang="en-IN" smtClean="0"/>
              <a:t>27-07-2026</a:t>
            </a:fld>
            <a:endParaRPr lang="en-IN"/>
          </a:p>
        </p:txBody>
      </p:sp>
      <p:sp>
        <p:nvSpPr>
          <p:cNvPr id="8" name="Footer Placeholder 7">
            <a:extLst>
              <a:ext uri="{FF2B5EF4-FFF2-40B4-BE49-F238E27FC236}">
                <a16:creationId xmlns:a16="http://schemas.microsoft.com/office/drawing/2014/main" id="{AD033241-EB08-777E-F678-5D641F6495A5}"/>
              </a:ext>
            </a:extLst>
          </p:cNvPr>
          <p:cNvSpPr>
            <a:spLocks noGrp="1"/>
          </p:cNvSpPr>
          <p:nvPr>
            <p:ph type="ftr" sz="quarter" idx="11"/>
          </p:nvPr>
        </p:nvSpPr>
        <p:spPr/>
        <p:txBody>
          <a:bodyPr/>
          <a:lstStyle/>
          <a:p>
            <a:r>
              <a:rPr lang="en-IN"/>
              <a:t>SCOPE</a:t>
            </a:r>
          </a:p>
        </p:txBody>
      </p:sp>
      <p:sp>
        <p:nvSpPr>
          <p:cNvPr id="9" name="Slide Number Placeholder 8">
            <a:extLst>
              <a:ext uri="{FF2B5EF4-FFF2-40B4-BE49-F238E27FC236}">
                <a16:creationId xmlns:a16="http://schemas.microsoft.com/office/drawing/2014/main" id="{40D711ED-181F-C690-A3B3-1D82670FC5D5}"/>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9272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468B4-E355-69B3-7598-80ADF2F9CC1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2F1AB3B-AFC6-3627-62E6-22313061FA80}"/>
              </a:ext>
            </a:extLst>
          </p:cNvPr>
          <p:cNvSpPr>
            <a:spLocks noGrp="1"/>
          </p:cNvSpPr>
          <p:nvPr>
            <p:ph type="dt" sz="half" idx="10"/>
          </p:nvPr>
        </p:nvSpPr>
        <p:spPr/>
        <p:txBody>
          <a:bodyPr/>
          <a:lstStyle/>
          <a:p>
            <a:fld id="{79378C8C-5FBB-4DD7-A06D-BE263480794B}" type="datetime1">
              <a:rPr lang="en-IN" smtClean="0"/>
              <a:t>27-07-2026</a:t>
            </a:fld>
            <a:endParaRPr lang="en-IN"/>
          </a:p>
        </p:txBody>
      </p:sp>
      <p:sp>
        <p:nvSpPr>
          <p:cNvPr id="4" name="Footer Placeholder 3">
            <a:extLst>
              <a:ext uri="{FF2B5EF4-FFF2-40B4-BE49-F238E27FC236}">
                <a16:creationId xmlns:a16="http://schemas.microsoft.com/office/drawing/2014/main" id="{2B2C6591-48E4-480E-7965-DE9F830154A3}"/>
              </a:ext>
            </a:extLst>
          </p:cNvPr>
          <p:cNvSpPr>
            <a:spLocks noGrp="1"/>
          </p:cNvSpPr>
          <p:nvPr>
            <p:ph type="ftr" sz="quarter" idx="11"/>
          </p:nvPr>
        </p:nvSpPr>
        <p:spPr/>
        <p:txBody>
          <a:bodyPr/>
          <a:lstStyle/>
          <a:p>
            <a:r>
              <a:rPr lang="en-IN"/>
              <a:t>SCOPE</a:t>
            </a:r>
          </a:p>
        </p:txBody>
      </p:sp>
      <p:sp>
        <p:nvSpPr>
          <p:cNvPr id="5" name="Slide Number Placeholder 4">
            <a:extLst>
              <a:ext uri="{FF2B5EF4-FFF2-40B4-BE49-F238E27FC236}">
                <a16:creationId xmlns:a16="http://schemas.microsoft.com/office/drawing/2014/main" id="{F10C9D68-A16A-B2D3-C8A6-B5221AF744BC}"/>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075061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3F289A-3AD7-C11D-1594-90A35E592B5C}"/>
              </a:ext>
            </a:extLst>
          </p:cNvPr>
          <p:cNvSpPr>
            <a:spLocks noGrp="1"/>
          </p:cNvSpPr>
          <p:nvPr>
            <p:ph type="dt" sz="half" idx="10"/>
          </p:nvPr>
        </p:nvSpPr>
        <p:spPr/>
        <p:txBody>
          <a:bodyPr/>
          <a:lstStyle/>
          <a:p>
            <a:fld id="{31FD2985-06EC-459B-80C8-F6F4362A1C03}" type="datetime1">
              <a:rPr lang="en-IN" smtClean="0"/>
              <a:t>27-07-2026</a:t>
            </a:fld>
            <a:endParaRPr lang="en-IN"/>
          </a:p>
        </p:txBody>
      </p:sp>
      <p:sp>
        <p:nvSpPr>
          <p:cNvPr id="3" name="Footer Placeholder 2">
            <a:extLst>
              <a:ext uri="{FF2B5EF4-FFF2-40B4-BE49-F238E27FC236}">
                <a16:creationId xmlns:a16="http://schemas.microsoft.com/office/drawing/2014/main" id="{8C252269-BBE3-199F-299B-38D4E9CC1899}"/>
              </a:ext>
            </a:extLst>
          </p:cNvPr>
          <p:cNvSpPr>
            <a:spLocks noGrp="1"/>
          </p:cNvSpPr>
          <p:nvPr>
            <p:ph type="ftr" sz="quarter" idx="11"/>
          </p:nvPr>
        </p:nvSpPr>
        <p:spPr/>
        <p:txBody>
          <a:bodyPr/>
          <a:lstStyle/>
          <a:p>
            <a:r>
              <a:rPr lang="en-IN"/>
              <a:t>SCOPE</a:t>
            </a:r>
          </a:p>
        </p:txBody>
      </p:sp>
      <p:sp>
        <p:nvSpPr>
          <p:cNvPr id="4" name="Slide Number Placeholder 3">
            <a:extLst>
              <a:ext uri="{FF2B5EF4-FFF2-40B4-BE49-F238E27FC236}">
                <a16:creationId xmlns:a16="http://schemas.microsoft.com/office/drawing/2014/main" id="{F7407FDC-B2A9-1304-047F-5808A0B6B22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047265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A4847-FC20-D9BF-0BDE-26EC7EF743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8D9C584-AC19-D7B4-9DFE-7C1BC2E1BC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F4A3262-CE8D-2419-DCCC-C536E9FDAC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4758D6-7AF2-29C5-E0EE-3B7BE155EC20}"/>
              </a:ext>
            </a:extLst>
          </p:cNvPr>
          <p:cNvSpPr>
            <a:spLocks noGrp="1"/>
          </p:cNvSpPr>
          <p:nvPr>
            <p:ph type="dt" sz="half" idx="10"/>
          </p:nvPr>
        </p:nvSpPr>
        <p:spPr/>
        <p:txBody>
          <a:bodyPr/>
          <a:lstStyle/>
          <a:p>
            <a:fld id="{71D7E9DA-13C6-48A4-9305-B592482DE8CE}" type="datetime1">
              <a:rPr lang="en-IN" smtClean="0"/>
              <a:t>27-07-2026</a:t>
            </a:fld>
            <a:endParaRPr lang="en-IN"/>
          </a:p>
        </p:txBody>
      </p:sp>
      <p:sp>
        <p:nvSpPr>
          <p:cNvPr id="6" name="Footer Placeholder 5">
            <a:extLst>
              <a:ext uri="{FF2B5EF4-FFF2-40B4-BE49-F238E27FC236}">
                <a16:creationId xmlns:a16="http://schemas.microsoft.com/office/drawing/2014/main" id="{45AAC7E7-68C4-7616-2DE1-0333E2C446CC}"/>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5E9EF51B-1685-66FF-0783-23584C25175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756387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39D0E-3A71-7252-C837-B8281F0DED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FE3D557-6893-299F-57A8-A7B173F101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4CC8BA2-BB08-F4E3-5660-C7370BA568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57E1CE-C7CA-966D-8661-1E99A7DA2174}"/>
              </a:ext>
            </a:extLst>
          </p:cNvPr>
          <p:cNvSpPr>
            <a:spLocks noGrp="1"/>
          </p:cNvSpPr>
          <p:nvPr>
            <p:ph type="dt" sz="half" idx="10"/>
          </p:nvPr>
        </p:nvSpPr>
        <p:spPr/>
        <p:txBody>
          <a:bodyPr/>
          <a:lstStyle/>
          <a:p>
            <a:fld id="{F45E7C4B-C575-4DCF-9B63-045662930500}" type="datetime1">
              <a:rPr lang="en-IN" smtClean="0"/>
              <a:t>27-07-2026</a:t>
            </a:fld>
            <a:endParaRPr lang="en-IN"/>
          </a:p>
        </p:txBody>
      </p:sp>
      <p:sp>
        <p:nvSpPr>
          <p:cNvPr id="6" name="Footer Placeholder 5">
            <a:extLst>
              <a:ext uri="{FF2B5EF4-FFF2-40B4-BE49-F238E27FC236}">
                <a16:creationId xmlns:a16="http://schemas.microsoft.com/office/drawing/2014/main" id="{66055516-3E64-07E5-10C5-DE056657E44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AFBA5AD5-9867-E76D-C035-2856CCFBC128}"/>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940017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1D7EC-16EA-5009-5D33-ABFC55F2813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09EC6D-8ED5-29E9-9444-CC2D6A1CB8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1ADFC6-7CEA-ABEE-94C2-870B1E65737A}"/>
              </a:ext>
            </a:extLst>
          </p:cNvPr>
          <p:cNvSpPr>
            <a:spLocks noGrp="1"/>
          </p:cNvSpPr>
          <p:nvPr>
            <p:ph type="dt" sz="half" idx="10"/>
          </p:nvPr>
        </p:nvSpPr>
        <p:spPr/>
        <p:txBody>
          <a:bodyPr/>
          <a:lstStyle/>
          <a:p>
            <a:fld id="{5576931C-EA1A-43DD-B3B3-66F5BA587712}" type="datetime1">
              <a:rPr lang="en-IN" smtClean="0"/>
              <a:t>27-07-2026</a:t>
            </a:fld>
            <a:endParaRPr lang="en-IN"/>
          </a:p>
        </p:txBody>
      </p:sp>
      <p:sp>
        <p:nvSpPr>
          <p:cNvPr id="5" name="Footer Placeholder 4">
            <a:extLst>
              <a:ext uri="{FF2B5EF4-FFF2-40B4-BE49-F238E27FC236}">
                <a16:creationId xmlns:a16="http://schemas.microsoft.com/office/drawing/2014/main" id="{7B1FA3A5-596E-6C2A-F853-30C5DC6FBF0D}"/>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312CE6B1-CE87-B68F-9494-FA6D109F389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659809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0FF105-FC99-2BCB-131F-2B902F8BAE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0354FD6-064F-6E12-E8DE-81EC913CDB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1D2109-32D1-4A0F-F903-5142A204EF48}"/>
              </a:ext>
            </a:extLst>
          </p:cNvPr>
          <p:cNvSpPr>
            <a:spLocks noGrp="1"/>
          </p:cNvSpPr>
          <p:nvPr>
            <p:ph type="dt" sz="half" idx="10"/>
          </p:nvPr>
        </p:nvSpPr>
        <p:spPr/>
        <p:txBody>
          <a:bodyPr/>
          <a:lstStyle/>
          <a:p>
            <a:fld id="{82C9B0E1-7C95-4C20-B9C6-BA51F388E878}" type="datetime1">
              <a:rPr lang="en-IN" smtClean="0"/>
              <a:t>27-07-2026</a:t>
            </a:fld>
            <a:endParaRPr lang="en-IN"/>
          </a:p>
        </p:txBody>
      </p:sp>
      <p:sp>
        <p:nvSpPr>
          <p:cNvPr id="5" name="Footer Placeholder 4">
            <a:extLst>
              <a:ext uri="{FF2B5EF4-FFF2-40B4-BE49-F238E27FC236}">
                <a16:creationId xmlns:a16="http://schemas.microsoft.com/office/drawing/2014/main" id="{73E5353D-EEF9-CF3C-A97F-F0F0EBFA7C59}"/>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3DF2F1DC-3958-BCDE-9A16-88E928E7ED2D}"/>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3354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454249-E28B-CF91-F4A6-9762E4F38B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E3D641-7C66-CA7D-30A7-7F95AC27EF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E1D408-B228-838E-3E43-4304680A53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827C3E-786B-4150-9177-1C28966A2ADC}" type="datetime1">
              <a:rPr lang="en-IN" smtClean="0"/>
              <a:t>27-07-2026</a:t>
            </a:fld>
            <a:endParaRPr lang="en-IN"/>
          </a:p>
        </p:txBody>
      </p:sp>
      <p:sp>
        <p:nvSpPr>
          <p:cNvPr id="5" name="Footer Placeholder 4">
            <a:extLst>
              <a:ext uri="{FF2B5EF4-FFF2-40B4-BE49-F238E27FC236}">
                <a16:creationId xmlns:a16="http://schemas.microsoft.com/office/drawing/2014/main" id="{DCEC7A69-1922-F157-900C-FF95668316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SCOPE</a:t>
            </a:r>
          </a:p>
        </p:txBody>
      </p:sp>
      <p:sp>
        <p:nvSpPr>
          <p:cNvPr id="6" name="Slide Number Placeholder 5">
            <a:extLst>
              <a:ext uri="{FF2B5EF4-FFF2-40B4-BE49-F238E27FC236}">
                <a16:creationId xmlns:a16="http://schemas.microsoft.com/office/drawing/2014/main" id="{51B80E76-E345-1553-9664-0BCF569B55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201FD4-9D8D-4491-815B-63C7BF4F0034}" type="slidenum">
              <a:rPr lang="en-IN" smtClean="0"/>
              <a:t>‹#›</a:t>
            </a:fld>
            <a:endParaRPr lang="en-IN"/>
          </a:p>
        </p:txBody>
      </p:sp>
    </p:spTree>
    <p:extLst>
      <p:ext uri="{BB962C8B-B14F-4D97-AF65-F5344CB8AC3E}">
        <p14:creationId xmlns:p14="http://schemas.microsoft.com/office/powerpoint/2010/main" val="13918410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E9E27CD-EF84-CB3A-3D07-A3152356892A}"/>
              </a:ext>
            </a:extLst>
          </p:cNvPr>
          <p:cNvPicPr>
            <a:picLocks noChangeAspect="1"/>
          </p:cNvPicPr>
          <p:nvPr/>
        </p:nvPicPr>
        <p:blipFill>
          <a:blip r:embed="rId2"/>
          <a:stretch>
            <a:fillRect/>
          </a:stretch>
        </p:blipFill>
        <p:spPr>
          <a:xfrm>
            <a:off x="3837236" y="-11493"/>
            <a:ext cx="4517528" cy="1871634"/>
          </a:xfrm>
          <a:prstGeom prst="rect">
            <a:avLst/>
          </a:prstGeom>
        </p:spPr>
      </p:pic>
      <p:sp>
        <p:nvSpPr>
          <p:cNvPr id="7" name="Title 6">
            <a:extLst>
              <a:ext uri="{FF2B5EF4-FFF2-40B4-BE49-F238E27FC236}">
                <a16:creationId xmlns:a16="http://schemas.microsoft.com/office/drawing/2014/main" id="{8BAD67C4-20B4-E1F6-A7E7-C8C33181D0C9}"/>
              </a:ext>
            </a:extLst>
          </p:cNvPr>
          <p:cNvSpPr txBox="1">
            <a:spLocks noGrp="1"/>
          </p:cNvSpPr>
          <p:nvPr>
            <p:ph type="ctrTitle"/>
          </p:nvPr>
        </p:nvSpPr>
        <p:spPr>
          <a:xfrm>
            <a:off x="1907459" y="1657142"/>
            <a:ext cx="8924544" cy="1366528"/>
          </a:xfrm>
          <a:prstGeom prst="rect">
            <a:avLst/>
          </a:prstGeom>
          <a:noFill/>
        </p:spPr>
        <p:txBody>
          <a:bodyPr wrap="square" rtlCol="0">
            <a:spAutoFit/>
          </a:bodyPr>
          <a:lstStyle/>
          <a:p>
            <a:r>
              <a:rPr lang="en-IN" sz="2000" b="1" dirty="0" err="1">
                <a:latin typeface="Times New Roman" panose="02020603050405020304" pitchFamily="18" charset="0"/>
                <a:cs typeface="Times New Roman" panose="02020603050405020304" pitchFamily="18" charset="0"/>
              </a:rPr>
              <a:t>B.Tech</a:t>
            </a:r>
            <a:br>
              <a:rPr lang="en-IN"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BCSE497J</a:t>
            </a:r>
            <a:r>
              <a:rPr lang="en-IN" sz="2000" b="1" dirty="0">
                <a:latin typeface="Times New Roman" panose="02020603050405020304" pitchFamily="18" charset="0"/>
                <a:cs typeface="Times New Roman" panose="02020603050405020304" pitchFamily="18" charset="0"/>
              </a:rPr>
              <a:t> – Project-I</a:t>
            </a:r>
            <a:br>
              <a:rPr lang="en-IN" sz="3200" b="1" dirty="0">
                <a:latin typeface="Times New Roman" panose="02020603050405020304" pitchFamily="18" charset="0"/>
                <a:cs typeface="Times New Roman" panose="02020603050405020304" pitchFamily="18" charset="0"/>
              </a:rPr>
            </a:br>
            <a:r>
              <a:rPr lang="en-US" sz="2600" b="1" dirty="0">
                <a:latin typeface="Times New Roman" panose="02020603050405020304" pitchFamily="18" charset="0"/>
                <a:cs typeface="Times New Roman" panose="02020603050405020304" pitchFamily="18" charset="0"/>
              </a:rPr>
              <a:t>Context-Aware AI-Based Detection of Multi-Stage Web Injection Attacks Using Sequential HTTP Request Analysis</a:t>
            </a:r>
            <a:endParaRPr lang="en-IN" sz="2600" b="1" dirty="0">
              <a:latin typeface="Times New Roman" panose="02020603050405020304" pitchFamily="18" charset="0"/>
              <a:cs typeface="Times New Roman" panose="02020603050405020304" pitchFamily="18" charset="0"/>
            </a:endParaRPr>
          </a:p>
        </p:txBody>
      </p:sp>
      <p:sp>
        <p:nvSpPr>
          <p:cNvPr id="9" name="object 3">
            <a:extLst>
              <a:ext uri="{FF2B5EF4-FFF2-40B4-BE49-F238E27FC236}">
                <a16:creationId xmlns:a16="http://schemas.microsoft.com/office/drawing/2014/main" id="{68BC382C-506F-4908-6AC3-C0AA73064F47}"/>
              </a:ext>
            </a:extLst>
          </p:cNvPr>
          <p:cNvSpPr txBox="1"/>
          <p:nvPr/>
        </p:nvSpPr>
        <p:spPr>
          <a:xfrm>
            <a:off x="2609088" y="3208471"/>
            <a:ext cx="7071360" cy="2734082"/>
          </a:xfrm>
          <a:prstGeom prst="rect">
            <a:avLst/>
          </a:prstGeom>
        </p:spPr>
        <p:txBody>
          <a:bodyPr vert="horz" wrap="square" lIns="0" tIns="12700" rIns="0" bIns="0" rtlCol="0">
            <a:spAutoFit/>
          </a:bodyPr>
          <a:lstStyle/>
          <a:p>
            <a:pPr>
              <a:lnSpc>
                <a:spcPct val="100000"/>
              </a:lnSpc>
              <a:spcBef>
                <a:spcPts val="200"/>
              </a:spcBef>
            </a:pPr>
            <a:endParaRPr sz="1800" dirty="0">
              <a:latin typeface="Times New Roman"/>
              <a:cs typeface="Times New Roman"/>
            </a:endParaRPr>
          </a:p>
          <a:p>
            <a:pPr marL="12700">
              <a:lnSpc>
                <a:spcPct val="100000"/>
              </a:lnSpc>
            </a:pPr>
            <a:r>
              <a:rPr sz="2000" spc="-20" dirty="0">
                <a:latin typeface="Times New Roman"/>
                <a:cs typeface="Times New Roman"/>
              </a:rPr>
              <a:t>Team</a:t>
            </a:r>
            <a:r>
              <a:rPr sz="2000" spc="-80" dirty="0">
                <a:latin typeface="Times New Roman"/>
                <a:cs typeface="Times New Roman"/>
              </a:rPr>
              <a:t> </a:t>
            </a:r>
            <a:r>
              <a:rPr sz="2000" spc="-10" dirty="0">
                <a:latin typeface="Times New Roman"/>
                <a:cs typeface="Times New Roman"/>
              </a:rPr>
              <a:t>members:</a:t>
            </a:r>
            <a:endParaRPr sz="2000" dirty="0">
              <a:latin typeface="Times New Roman"/>
              <a:cs typeface="Times New Roman"/>
            </a:endParaRPr>
          </a:p>
          <a:p>
            <a:pPr marL="149225" indent="-136525">
              <a:lnSpc>
                <a:spcPct val="100000"/>
              </a:lnSpc>
              <a:spcBef>
                <a:spcPts val="20"/>
              </a:spcBef>
              <a:buFont typeface="Times New Roman"/>
              <a:buChar char="•"/>
              <a:tabLst>
                <a:tab pos="149225" algn="l"/>
              </a:tabLst>
            </a:pPr>
            <a:r>
              <a:rPr lang="en-IN" sz="2000" b="1" dirty="0">
                <a:latin typeface="Times New Roman"/>
                <a:cs typeface="Times New Roman"/>
              </a:rPr>
              <a:t>M. Srikar Bharadwaj		  (23BCI0060)</a:t>
            </a:r>
          </a:p>
          <a:p>
            <a:pPr marL="149225" indent="-136525">
              <a:spcBef>
                <a:spcPts val="20"/>
              </a:spcBef>
              <a:buFont typeface="Times New Roman"/>
              <a:buChar char="•"/>
              <a:tabLst>
                <a:tab pos="149225" algn="l"/>
              </a:tabLst>
            </a:pPr>
            <a:r>
              <a:rPr lang="en-IN" sz="2000" b="1" dirty="0">
                <a:latin typeface="Times New Roman"/>
                <a:cs typeface="Times New Roman"/>
              </a:rPr>
              <a:t>R. Phanindra Sanjay		  (23BCE2262)</a:t>
            </a:r>
          </a:p>
          <a:p>
            <a:pPr marL="149225" indent="-136525">
              <a:lnSpc>
                <a:spcPct val="100000"/>
              </a:lnSpc>
              <a:spcBef>
                <a:spcPts val="20"/>
              </a:spcBef>
              <a:buFont typeface="Times New Roman"/>
              <a:buChar char="•"/>
              <a:tabLst>
                <a:tab pos="149225" algn="l"/>
              </a:tabLst>
            </a:pPr>
            <a:r>
              <a:rPr lang="en-IN" sz="2000" b="1" dirty="0" err="1">
                <a:latin typeface="Times New Roman"/>
                <a:cs typeface="Times New Roman"/>
              </a:rPr>
              <a:t>Koustav</a:t>
            </a:r>
            <a:r>
              <a:rPr lang="en-IN" sz="2000" b="1" dirty="0">
                <a:latin typeface="Times New Roman"/>
                <a:cs typeface="Times New Roman"/>
              </a:rPr>
              <a:t> Mitra		  	  (23BCI0056)</a:t>
            </a:r>
          </a:p>
          <a:p>
            <a:pPr marL="149225" indent="-136525">
              <a:lnSpc>
                <a:spcPct val="100000"/>
              </a:lnSpc>
              <a:spcBef>
                <a:spcPts val="20"/>
              </a:spcBef>
              <a:buFont typeface="Times New Roman"/>
              <a:buChar char="•"/>
              <a:tabLst>
                <a:tab pos="149225" algn="l"/>
              </a:tabLst>
            </a:pPr>
            <a:endParaRPr lang="en-IN" sz="2000" b="1" dirty="0">
              <a:latin typeface="Times New Roman"/>
              <a:cs typeface="Times New Roman"/>
            </a:endParaRPr>
          </a:p>
          <a:p>
            <a:pPr marL="12700">
              <a:lnSpc>
                <a:spcPct val="100000"/>
              </a:lnSpc>
              <a:spcBef>
                <a:spcPts val="100"/>
              </a:spcBef>
            </a:pPr>
            <a:r>
              <a:rPr lang="en-US" sz="2000" dirty="0">
                <a:latin typeface="Times New Roman"/>
                <a:cs typeface="Times New Roman"/>
              </a:rPr>
              <a:t>Faculty</a:t>
            </a:r>
            <a:r>
              <a:rPr lang="en-US" sz="2000" spc="-60" dirty="0">
                <a:latin typeface="Times New Roman"/>
                <a:cs typeface="Times New Roman"/>
              </a:rPr>
              <a:t> </a:t>
            </a:r>
            <a:r>
              <a:rPr lang="en-US" sz="2000" dirty="0">
                <a:latin typeface="Times New Roman"/>
                <a:cs typeface="Times New Roman"/>
              </a:rPr>
              <a:t>guide</a:t>
            </a:r>
            <a:r>
              <a:rPr lang="en-US" sz="2000" spc="-55" dirty="0">
                <a:latin typeface="Times New Roman"/>
                <a:cs typeface="Times New Roman"/>
              </a:rPr>
              <a:t> </a:t>
            </a:r>
            <a:r>
              <a:rPr lang="en-US" sz="2000" spc="-50" dirty="0">
                <a:latin typeface="Times New Roman"/>
                <a:cs typeface="Times New Roman"/>
              </a:rPr>
              <a:t>:</a:t>
            </a:r>
            <a:endParaRPr lang="en-US" sz="2000" dirty="0">
              <a:latin typeface="Times New Roman"/>
              <a:cs typeface="Times New Roman"/>
            </a:endParaRPr>
          </a:p>
          <a:p>
            <a:pPr marL="12700">
              <a:lnSpc>
                <a:spcPct val="100000"/>
              </a:lnSpc>
              <a:spcBef>
                <a:spcPts val="20"/>
              </a:spcBef>
            </a:pPr>
            <a:r>
              <a:rPr lang="en-US" sz="2000" b="1" dirty="0">
                <a:latin typeface="Times New Roman"/>
                <a:cs typeface="Times New Roman"/>
              </a:rPr>
              <a:t>Dr. Ganesh </a:t>
            </a:r>
            <a:r>
              <a:rPr lang="en-US" sz="2000" b="1" dirty="0" err="1">
                <a:latin typeface="Times New Roman"/>
                <a:cs typeface="Times New Roman"/>
              </a:rPr>
              <a:t>Shamrao</a:t>
            </a:r>
            <a:r>
              <a:rPr lang="en-US" sz="2000" b="1" dirty="0">
                <a:latin typeface="Times New Roman"/>
                <a:cs typeface="Times New Roman"/>
              </a:rPr>
              <a:t> </a:t>
            </a:r>
            <a:r>
              <a:rPr lang="en-US" sz="2000" b="1" dirty="0" err="1">
                <a:latin typeface="Times New Roman"/>
                <a:cs typeface="Times New Roman"/>
              </a:rPr>
              <a:t>Khekare</a:t>
            </a:r>
            <a:endParaRPr lang="en-US" sz="2000" dirty="0">
              <a:latin typeface="Times New Roman"/>
              <a:cs typeface="Times New Roman"/>
            </a:endParaRPr>
          </a:p>
          <a:p>
            <a:pPr marL="149225" indent="-136525">
              <a:lnSpc>
                <a:spcPct val="100000"/>
              </a:lnSpc>
              <a:spcBef>
                <a:spcPts val="20"/>
              </a:spcBef>
              <a:buFont typeface="Times New Roman"/>
              <a:buChar char="•"/>
              <a:tabLst>
                <a:tab pos="149225" algn="l"/>
              </a:tabLst>
            </a:pPr>
            <a:endParaRPr sz="1800" dirty="0">
              <a:latin typeface="Times New Roman"/>
              <a:cs typeface="Times New Roman"/>
            </a:endParaRPr>
          </a:p>
        </p:txBody>
      </p:sp>
    </p:spTree>
    <p:extLst>
      <p:ext uri="{BB962C8B-B14F-4D97-AF65-F5344CB8AC3E}">
        <p14:creationId xmlns:p14="http://schemas.microsoft.com/office/powerpoint/2010/main" val="4243036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68A428-04DA-E6A8-7606-5D2FE5F31C52}"/>
              </a:ext>
            </a:extLst>
          </p:cNvPr>
          <p:cNvSpPr>
            <a:spLocks noGrp="1"/>
          </p:cNvSpPr>
          <p:nvPr>
            <p:ph idx="1"/>
          </p:nvPr>
        </p:nvSpPr>
        <p:spPr/>
        <p:txBody>
          <a:bodyPr>
            <a:normAutofit/>
          </a:bodyPr>
          <a:lstStyle/>
          <a:p>
            <a:r>
              <a:rPr lang="en-US" dirty="0"/>
              <a:t>To develop an </a:t>
            </a:r>
            <a:r>
              <a:rPr lang="en-US" b="1" dirty="0"/>
              <a:t>LSTM-based multi-stage IDS</a:t>
            </a:r>
            <a:r>
              <a:rPr lang="en-US" dirty="0"/>
              <a:t> that detects cyberattack progression from normal activity to exploitation using sequential HTTP session analysis.</a:t>
            </a:r>
          </a:p>
        </p:txBody>
      </p:sp>
      <p:sp>
        <p:nvSpPr>
          <p:cNvPr id="4" name="object 2">
            <a:extLst>
              <a:ext uri="{FF2B5EF4-FFF2-40B4-BE49-F238E27FC236}">
                <a16:creationId xmlns:a16="http://schemas.microsoft.com/office/drawing/2014/main" id="{027305EA-516C-11F8-8A54-2BA046094ABC}"/>
              </a:ext>
            </a:extLst>
          </p:cNvPr>
          <p:cNvSpPr txBox="1">
            <a:spLocks noGrp="1"/>
          </p:cNvSpPr>
          <p:nvPr>
            <p:ph type="title"/>
          </p:nvPr>
        </p:nvSpPr>
        <p:spPr>
          <a:xfrm>
            <a:off x="838200" y="739558"/>
            <a:ext cx="10515600" cy="576696"/>
          </a:xfrm>
          <a:prstGeom prst="rect">
            <a:avLst/>
          </a:prstGeom>
        </p:spPr>
        <p:txBody>
          <a:bodyPr vert="horz" wrap="square" lIns="0" tIns="113919" rIns="0" bIns="0" rtlCol="0">
            <a:spAutoFit/>
          </a:bodyPr>
          <a:lstStyle/>
          <a:p>
            <a:pPr marL="486409">
              <a:lnSpc>
                <a:spcPct val="100000"/>
              </a:lnSpc>
              <a:spcBef>
                <a:spcPts val="130"/>
              </a:spcBef>
            </a:pPr>
            <a:r>
              <a:rPr sz="3000" b="1" spc="-25" dirty="0">
                <a:latin typeface="Times New Roman" panose="02020603050405020304" pitchFamily="18" charset="0"/>
                <a:cs typeface="Times New Roman" panose="02020603050405020304" pitchFamily="18" charset="0"/>
              </a:rPr>
              <a:t>Aim</a:t>
            </a:r>
            <a:endParaRPr sz="3000" b="1" dirty="0">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779E6AA7-AE20-8A91-BA42-261BF76A2F8B}"/>
              </a:ext>
            </a:extLst>
          </p:cNvPr>
          <p:cNvSpPr>
            <a:spLocks noGrp="1"/>
          </p:cNvSpPr>
          <p:nvPr>
            <p:ph type="dt" sz="half" idx="10"/>
          </p:nvPr>
        </p:nvSpPr>
        <p:spPr/>
        <p:txBody>
          <a:bodyPr/>
          <a:lstStyle/>
          <a:p>
            <a:fld id="{61736562-4E3F-4038-A291-A7AE35CC3E6A}" type="datetime1">
              <a:rPr lang="en-IN" smtClean="0"/>
              <a:t>27-07-2026</a:t>
            </a:fld>
            <a:endParaRPr lang="en-IN"/>
          </a:p>
        </p:txBody>
      </p:sp>
      <p:sp>
        <p:nvSpPr>
          <p:cNvPr id="8" name="Footer Placeholder 7">
            <a:extLst>
              <a:ext uri="{FF2B5EF4-FFF2-40B4-BE49-F238E27FC236}">
                <a16:creationId xmlns:a16="http://schemas.microsoft.com/office/drawing/2014/main" id="{B77FE434-77F0-B8BE-9198-66090332F3F0}"/>
              </a:ext>
            </a:extLst>
          </p:cNvPr>
          <p:cNvSpPr>
            <a:spLocks noGrp="1"/>
          </p:cNvSpPr>
          <p:nvPr>
            <p:ph type="ftr" sz="quarter" idx="11"/>
          </p:nvPr>
        </p:nvSpPr>
        <p:spPr/>
        <p:txBody>
          <a:bodyPr/>
          <a:lstStyle/>
          <a:p>
            <a:r>
              <a:rPr lang="en-IN"/>
              <a:t>SCOPE</a:t>
            </a:r>
          </a:p>
        </p:txBody>
      </p:sp>
      <p:sp>
        <p:nvSpPr>
          <p:cNvPr id="9" name="Slide Number Placeholder 8">
            <a:extLst>
              <a:ext uri="{FF2B5EF4-FFF2-40B4-BE49-F238E27FC236}">
                <a16:creationId xmlns:a16="http://schemas.microsoft.com/office/drawing/2014/main" id="{5AD6A9DA-AEE9-F6FE-EFA8-06396314F7E6}"/>
              </a:ext>
            </a:extLst>
          </p:cNvPr>
          <p:cNvSpPr>
            <a:spLocks noGrp="1"/>
          </p:cNvSpPr>
          <p:nvPr>
            <p:ph type="sldNum" sz="quarter" idx="12"/>
          </p:nvPr>
        </p:nvSpPr>
        <p:spPr/>
        <p:txBody>
          <a:bodyPr/>
          <a:lstStyle/>
          <a:p>
            <a:fld id="{65201FD4-9D8D-4491-815B-63C7BF4F0034}" type="slidenum">
              <a:rPr lang="en-IN" smtClean="0"/>
              <a:t>2</a:t>
            </a:fld>
            <a:endParaRPr lang="en-IN"/>
          </a:p>
        </p:txBody>
      </p:sp>
    </p:spTree>
    <p:extLst>
      <p:ext uri="{BB962C8B-B14F-4D97-AF65-F5344CB8AC3E}">
        <p14:creationId xmlns:p14="http://schemas.microsoft.com/office/powerpoint/2010/main" val="2543518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D95E8-8D7C-F548-8B75-23C3B2B15B1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DDED8F-1EBD-2E10-598E-0CA3F56F05DF}"/>
              </a:ext>
            </a:extLst>
          </p:cNvPr>
          <p:cNvSpPr>
            <a:spLocks noGrp="1"/>
          </p:cNvSpPr>
          <p:nvPr>
            <p:ph idx="1"/>
          </p:nvPr>
        </p:nvSpPr>
        <p:spPr>
          <a:xfrm>
            <a:off x="838200" y="1415845"/>
            <a:ext cx="10515600" cy="4761118"/>
          </a:xfrm>
        </p:spPr>
        <p:txBody>
          <a:bodyPr>
            <a:normAutofit fontScale="85000" lnSpcReduction="20000"/>
          </a:bodyPr>
          <a:lstStyle/>
          <a:p>
            <a:r>
              <a:rPr lang="en-US" dirty="0"/>
              <a:t>Traditional Intrusion Detection Systems analyze HTTP requests in isolation, missing the sequential progression of multi-stage web injection attacks. This project proposes a context-aware AI-based detection framework that leverages session-level HTTP request sequences to identify attack stages: Normal, Reconnaissance, Fuzzing, Injection, and Exploitation. A custom dataset is generated using OWASP Juice Shop and Burp Suite; captured XML sessions are enriched with </a:t>
            </a:r>
            <a:r>
              <a:rPr lang="en-US" dirty="0" err="1"/>
              <a:t>behavioural</a:t>
            </a:r>
            <a:r>
              <a:rPr lang="en-US" dirty="0"/>
              <a:t> features and stored in MongoDB Atlas to retain context. </a:t>
            </a:r>
            <a:r>
              <a:rPr lang="en-US" b="1" dirty="0"/>
              <a:t>Attack progression </a:t>
            </a:r>
            <a:r>
              <a:rPr lang="en-US" dirty="0"/>
              <a:t>is modelled via a </a:t>
            </a:r>
            <a:r>
              <a:rPr lang="en-US" b="1" dirty="0"/>
              <a:t>Hidden Markov Model </a:t>
            </a:r>
            <a:r>
              <a:rPr lang="en-US" dirty="0"/>
              <a:t>capturing stage transitions, while a causal </a:t>
            </a:r>
            <a:r>
              <a:rPr lang="en-US" b="1" dirty="0"/>
              <a:t>knowledge graph represents attack steps</a:t>
            </a:r>
            <a:r>
              <a:rPr lang="en-US" dirty="0"/>
              <a:t> and their relationships. For </a:t>
            </a:r>
            <a:r>
              <a:rPr lang="en-US" b="1" dirty="0"/>
              <a:t>sequential prediction</a:t>
            </a:r>
            <a:r>
              <a:rPr lang="en-US" dirty="0"/>
              <a:t>, deep learning architectures - </a:t>
            </a:r>
            <a:r>
              <a:rPr lang="en-US" b="1" dirty="0"/>
              <a:t>LSTM</a:t>
            </a:r>
            <a:r>
              <a:rPr lang="en-US" dirty="0"/>
              <a:t>, and </a:t>
            </a:r>
            <a:r>
              <a:rPr lang="en-US" b="1" dirty="0"/>
              <a:t>transformers</a:t>
            </a:r>
            <a:r>
              <a:rPr lang="en-US" dirty="0"/>
              <a:t> - are employed to learn temporal dependencies. Supervised classifiers (</a:t>
            </a:r>
            <a:r>
              <a:rPr lang="en-US" b="1" dirty="0"/>
              <a:t>SVM</a:t>
            </a:r>
            <a:r>
              <a:rPr lang="en-US" dirty="0"/>
              <a:t>) are integrated with alert correlation techniques to refine detections and reduce false positives. By combining sequential modelling, structured knowledge representation, and ensemble classification, the system aims to detect attack stages early, improve accuracy, and deliver actionable alerts for modern web application security.</a:t>
            </a:r>
          </a:p>
        </p:txBody>
      </p:sp>
      <p:sp>
        <p:nvSpPr>
          <p:cNvPr id="4" name="object 2">
            <a:extLst>
              <a:ext uri="{FF2B5EF4-FFF2-40B4-BE49-F238E27FC236}">
                <a16:creationId xmlns:a16="http://schemas.microsoft.com/office/drawing/2014/main" id="{156C6ACB-BF9E-DB99-B99C-4896C652737E}"/>
              </a:ext>
            </a:extLst>
          </p:cNvPr>
          <p:cNvSpPr txBox="1">
            <a:spLocks noGrp="1"/>
          </p:cNvSpPr>
          <p:nvPr>
            <p:ph type="title"/>
          </p:nvPr>
        </p:nvSpPr>
        <p:spPr>
          <a:xfrm>
            <a:off x="838200" y="739558"/>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Abstract</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7C3D067F-DF0A-3BD2-0B9E-C22E39B7F8C0}"/>
              </a:ext>
            </a:extLst>
          </p:cNvPr>
          <p:cNvSpPr>
            <a:spLocks noGrp="1"/>
          </p:cNvSpPr>
          <p:nvPr>
            <p:ph type="dt" sz="half" idx="10"/>
          </p:nvPr>
        </p:nvSpPr>
        <p:spPr/>
        <p:txBody>
          <a:bodyPr/>
          <a:lstStyle/>
          <a:p>
            <a:fld id="{22261D5D-2F82-4210-B67C-C3AADE7FED47}" type="datetime1">
              <a:rPr lang="en-IN" smtClean="0"/>
              <a:t>27-07-2026</a:t>
            </a:fld>
            <a:endParaRPr lang="en-IN"/>
          </a:p>
        </p:txBody>
      </p:sp>
      <p:sp>
        <p:nvSpPr>
          <p:cNvPr id="5" name="Footer Placeholder 4">
            <a:extLst>
              <a:ext uri="{FF2B5EF4-FFF2-40B4-BE49-F238E27FC236}">
                <a16:creationId xmlns:a16="http://schemas.microsoft.com/office/drawing/2014/main" id="{E1EFD8C3-C2D0-4BBB-7FD8-43FE2C084A64}"/>
              </a:ext>
            </a:extLst>
          </p:cNvPr>
          <p:cNvSpPr>
            <a:spLocks noGrp="1"/>
          </p:cNvSpPr>
          <p:nvPr>
            <p:ph type="ftr" sz="quarter" idx="11"/>
          </p:nvPr>
        </p:nvSpPr>
        <p:spPr/>
        <p:txBody>
          <a:bodyPr/>
          <a:lstStyle/>
          <a:p>
            <a:r>
              <a:rPr lang="en-IN" dirty="0"/>
              <a:t>SCOPE</a:t>
            </a:r>
          </a:p>
        </p:txBody>
      </p:sp>
      <p:sp>
        <p:nvSpPr>
          <p:cNvPr id="6" name="Slide Number Placeholder 5">
            <a:extLst>
              <a:ext uri="{FF2B5EF4-FFF2-40B4-BE49-F238E27FC236}">
                <a16:creationId xmlns:a16="http://schemas.microsoft.com/office/drawing/2014/main" id="{8BB9991A-41D4-F0AB-EF39-ACE70C817D43}"/>
              </a:ext>
            </a:extLst>
          </p:cNvPr>
          <p:cNvSpPr>
            <a:spLocks noGrp="1"/>
          </p:cNvSpPr>
          <p:nvPr>
            <p:ph type="sldNum" sz="quarter" idx="12"/>
          </p:nvPr>
        </p:nvSpPr>
        <p:spPr/>
        <p:txBody>
          <a:bodyPr/>
          <a:lstStyle/>
          <a:p>
            <a:fld id="{65201FD4-9D8D-4491-815B-63C7BF4F0034}" type="slidenum">
              <a:rPr lang="en-IN" smtClean="0"/>
              <a:t>3</a:t>
            </a:fld>
            <a:endParaRPr lang="en-IN"/>
          </a:p>
        </p:txBody>
      </p:sp>
    </p:spTree>
    <p:extLst>
      <p:ext uri="{BB962C8B-B14F-4D97-AF65-F5344CB8AC3E}">
        <p14:creationId xmlns:p14="http://schemas.microsoft.com/office/powerpoint/2010/main" val="3453097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0AE58-8206-476A-BECC-A1ADC0EA154A}"/>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435FB437-6170-6BA2-1A38-A902855A3E61}"/>
              </a:ext>
            </a:extLst>
          </p:cNvPr>
          <p:cNvSpPr txBox="1">
            <a:spLocks noGrp="1"/>
          </p:cNvSpPr>
          <p:nvPr>
            <p:ph type="title"/>
          </p:nvPr>
        </p:nvSpPr>
        <p:spPr>
          <a:xfrm>
            <a:off x="448056"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Literature Review</a:t>
            </a:r>
            <a:endParaRPr sz="30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913BC6E0-D294-E70D-8B27-13FBFEE5E6F7}"/>
              </a:ext>
            </a:extLst>
          </p:cNvPr>
          <p:cNvSpPr>
            <a:spLocks noGrp="1"/>
          </p:cNvSpPr>
          <p:nvPr>
            <p:ph type="dt" sz="half" idx="10"/>
          </p:nvPr>
        </p:nvSpPr>
        <p:spPr/>
        <p:txBody>
          <a:bodyPr/>
          <a:lstStyle/>
          <a:p>
            <a:fld id="{E919193B-09C0-4C85-858C-650926A9B146}" type="datetime1">
              <a:rPr lang="en-IN" smtClean="0"/>
              <a:t>27-07-2026</a:t>
            </a:fld>
            <a:endParaRPr lang="en-IN"/>
          </a:p>
        </p:txBody>
      </p:sp>
      <p:sp>
        <p:nvSpPr>
          <p:cNvPr id="9" name="Footer Placeholder 8">
            <a:extLst>
              <a:ext uri="{FF2B5EF4-FFF2-40B4-BE49-F238E27FC236}">
                <a16:creationId xmlns:a16="http://schemas.microsoft.com/office/drawing/2014/main" id="{1F284BA2-3334-3EC1-0E81-4C909589729F}"/>
              </a:ext>
            </a:extLst>
          </p:cNvPr>
          <p:cNvSpPr>
            <a:spLocks noGrp="1"/>
          </p:cNvSpPr>
          <p:nvPr>
            <p:ph type="ftr" sz="quarter" idx="11"/>
          </p:nvPr>
        </p:nvSpPr>
        <p:spPr/>
        <p:txBody>
          <a:bodyPr/>
          <a:lstStyle/>
          <a:p>
            <a:r>
              <a:rPr lang="en-IN"/>
              <a:t>SCOPE</a:t>
            </a:r>
          </a:p>
        </p:txBody>
      </p:sp>
      <p:sp>
        <p:nvSpPr>
          <p:cNvPr id="10" name="Slide Number Placeholder 9">
            <a:extLst>
              <a:ext uri="{FF2B5EF4-FFF2-40B4-BE49-F238E27FC236}">
                <a16:creationId xmlns:a16="http://schemas.microsoft.com/office/drawing/2014/main" id="{5A8F14EB-D02F-8EDE-87F4-A3F7E8D20C44}"/>
              </a:ext>
            </a:extLst>
          </p:cNvPr>
          <p:cNvSpPr>
            <a:spLocks noGrp="1"/>
          </p:cNvSpPr>
          <p:nvPr>
            <p:ph type="sldNum" sz="quarter" idx="12"/>
          </p:nvPr>
        </p:nvSpPr>
        <p:spPr/>
        <p:txBody>
          <a:bodyPr/>
          <a:lstStyle/>
          <a:p>
            <a:fld id="{65201FD4-9D8D-4491-815B-63C7BF4F0034}" type="slidenum">
              <a:rPr lang="en-IN" smtClean="0"/>
              <a:t>4</a:t>
            </a:fld>
            <a:endParaRPr lang="en-IN"/>
          </a:p>
        </p:txBody>
      </p:sp>
      <p:graphicFrame>
        <p:nvGraphicFramePr>
          <p:cNvPr id="6" name="Content Placeholder 5">
            <a:extLst>
              <a:ext uri="{FF2B5EF4-FFF2-40B4-BE49-F238E27FC236}">
                <a16:creationId xmlns:a16="http://schemas.microsoft.com/office/drawing/2014/main" id="{DB5FEEAB-2766-3809-B28F-E192A3BE95D4}"/>
              </a:ext>
            </a:extLst>
          </p:cNvPr>
          <p:cNvGraphicFramePr>
            <a:graphicFrameLocks noGrp="1"/>
          </p:cNvGraphicFramePr>
          <p:nvPr>
            <p:ph idx="1"/>
            <p:extLst>
              <p:ext uri="{D42A27DB-BD31-4B8C-83A1-F6EECF244321}">
                <p14:modId xmlns:p14="http://schemas.microsoft.com/office/powerpoint/2010/main" val="2433873647"/>
              </p:ext>
            </p:extLst>
          </p:nvPr>
        </p:nvGraphicFramePr>
        <p:xfrm>
          <a:off x="838200" y="1460500"/>
          <a:ext cx="10515600" cy="5186267"/>
        </p:xfrm>
        <a:graphic>
          <a:graphicData uri="http://schemas.openxmlformats.org/drawingml/2006/table">
            <a:tbl>
              <a:tblPr firstRow="1" bandRow="1">
                <a:tableStyleId>{073A0DAA-6AF3-43AB-8588-CEC1D06C72B9}</a:tableStyleId>
              </a:tblPr>
              <a:tblGrid>
                <a:gridCol w="2103120">
                  <a:extLst>
                    <a:ext uri="{9D8B030D-6E8A-4147-A177-3AD203B41FA5}">
                      <a16:colId xmlns:a16="http://schemas.microsoft.com/office/drawing/2014/main" val="1856968511"/>
                    </a:ext>
                  </a:extLst>
                </a:gridCol>
                <a:gridCol w="2103120">
                  <a:extLst>
                    <a:ext uri="{9D8B030D-6E8A-4147-A177-3AD203B41FA5}">
                      <a16:colId xmlns:a16="http://schemas.microsoft.com/office/drawing/2014/main" val="4093669903"/>
                    </a:ext>
                  </a:extLst>
                </a:gridCol>
                <a:gridCol w="2103120">
                  <a:extLst>
                    <a:ext uri="{9D8B030D-6E8A-4147-A177-3AD203B41FA5}">
                      <a16:colId xmlns:a16="http://schemas.microsoft.com/office/drawing/2014/main" val="447503776"/>
                    </a:ext>
                  </a:extLst>
                </a:gridCol>
                <a:gridCol w="2103120">
                  <a:extLst>
                    <a:ext uri="{9D8B030D-6E8A-4147-A177-3AD203B41FA5}">
                      <a16:colId xmlns:a16="http://schemas.microsoft.com/office/drawing/2014/main" val="3226961390"/>
                    </a:ext>
                  </a:extLst>
                </a:gridCol>
                <a:gridCol w="2103120">
                  <a:extLst>
                    <a:ext uri="{9D8B030D-6E8A-4147-A177-3AD203B41FA5}">
                      <a16:colId xmlns:a16="http://schemas.microsoft.com/office/drawing/2014/main" val="3336126726"/>
                    </a:ext>
                  </a:extLst>
                </a:gridCol>
              </a:tblGrid>
              <a:tr h="339947">
                <a:tc>
                  <a:txBody>
                    <a:bodyPr/>
                    <a:lstStyle/>
                    <a:p>
                      <a:r>
                        <a:rPr lang="en-US" sz="1400" dirty="0">
                          <a:latin typeface="Times New Roman" panose="02020603050405020304" pitchFamily="18" charset="0"/>
                          <a:ea typeface="Tahoma" panose="020B0604030504040204" pitchFamily="34" charset="0"/>
                          <a:cs typeface="Times New Roman" panose="02020603050405020304" pitchFamily="18" charset="0"/>
                        </a:rPr>
                        <a:t>Paper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latin typeface="Times New Roman" panose="02020603050405020304" pitchFamily="18" charset="0"/>
                          <a:cs typeface="Times New Roman" panose="02020603050405020304" pitchFamily="18" charset="0"/>
                        </a:rPr>
                        <a:t>Objective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latin typeface="Times New Roman" panose="02020603050405020304" pitchFamily="18" charset="0"/>
                          <a:cs typeface="Times New Roman" panose="02020603050405020304" pitchFamily="18" charset="0"/>
                        </a:rPr>
                        <a:t>Methodology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latin typeface="Times New Roman" panose="02020603050405020304" pitchFamily="18" charset="0"/>
                          <a:cs typeface="Times New Roman" panose="02020603050405020304" pitchFamily="18" charset="0"/>
                        </a:rPr>
                        <a:t>Pros/Cons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latin typeface="Times New Roman" panose="02020603050405020304" pitchFamily="18" charset="0"/>
                          <a:cs typeface="Times New Roman" panose="02020603050405020304" pitchFamily="18" charset="0"/>
                        </a:rPr>
                        <a:t>Findings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53668976"/>
                  </a:ext>
                </a:extLst>
              </a:tr>
              <a:tr h="1094850">
                <a:tc>
                  <a:txBody>
                    <a:bodyPr/>
                    <a:lstStyle/>
                    <a:p>
                      <a:r>
                        <a:rPr lang="en-US" sz="1400" dirty="0">
                          <a:latin typeface="Times New Roman" panose="02020603050405020304" pitchFamily="18" charset="0"/>
                          <a:cs typeface="Times New Roman" panose="02020603050405020304" pitchFamily="18" charset="0"/>
                        </a:rPr>
                        <a:t>A Double-Layered Hybrid Approach for Network IDS Using Combined Naive Bayes and SVM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latin typeface="Times New Roman" panose="02020603050405020304" pitchFamily="18" charset="0"/>
                          <a:cs typeface="Times New Roman" panose="02020603050405020304" pitchFamily="18" charset="0"/>
                        </a:rPr>
                        <a:t>Improve intrusion detection accuracy, especially for difficult attack classes like R2L and U2R.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latin typeface="Times New Roman" panose="02020603050405020304" pitchFamily="18" charset="0"/>
                          <a:cs typeface="Times New Roman" panose="02020603050405020304" pitchFamily="18" charset="0"/>
                        </a:rPr>
                        <a:t>Two-layer IDS using Naive Bayes, SVM, ICFS feature selection, and PCA on NSL-KDD.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latin typeface="Times New Roman" panose="02020603050405020304" pitchFamily="18" charset="0"/>
                          <a:cs typeface="Times New Roman" panose="02020603050405020304" pitchFamily="18" charset="0"/>
                        </a:rPr>
                        <a:t>High detection accuracy; computationally expensive and evaluated only on NSL-KDD.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b="0" dirty="0">
                          <a:latin typeface="Times New Roman" panose="02020603050405020304" pitchFamily="18" charset="0"/>
                          <a:cs typeface="Times New Roman" panose="02020603050405020304" pitchFamily="18" charset="0"/>
                        </a:rPr>
                        <a:t>Achieved 95.07% overall accuracy, with 100% U2R and 96.67% R2L detection.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68580213"/>
                  </a:ext>
                </a:extLst>
              </a:tr>
              <a:tr h="1094850">
                <a:tc>
                  <a:txBody>
                    <a:bodyPr/>
                    <a:lstStyle/>
                    <a:p>
                      <a:r>
                        <a:rPr lang="en-US" sz="1400" dirty="0">
                          <a:latin typeface="Times New Roman" panose="02020603050405020304" pitchFamily="18" charset="0"/>
                          <a:cs typeface="Times New Roman" panose="02020603050405020304" pitchFamily="18" charset="0"/>
                        </a:rPr>
                        <a:t>Detection of Intrusions in Computer Networks with Applications to Sequential Change-Point Detection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latin typeface="Times New Roman" panose="02020603050405020304" pitchFamily="18" charset="0"/>
                          <a:cs typeface="Times New Roman" panose="02020603050405020304" pitchFamily="18" charset="0"/>
                        </a:rPr>
                        <a:t>Detect network intrusions early through sequential statistical change detection.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latin typeface="Times New Roman" panose="02020603050405020304" pitchFamily="18" charset="0"/>
                          <a:cs typeface="Times New Roman" panose="02020603050405020304" pitchFamily="18" charset="0"/>
                        </a:rPr>
                        <a:t>CUSUM-based sequential change-point detection with adaptive thresholds and statistical traffic modeling.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latin typeface="Times New Roman" panose="02020603050405020304" pitchFamily="18" charset="0"/>
                          <a:cs typeface="Times New Roman" panose="02020603050405020304" pitchFamily="18" charset="0"/>
                        </a:rPr>
                        <a:t>Effective for abrupt attacks; struggles with low-and-slow and semantic attacks.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b="0" dirty="0">
                          <a:latin typeface="Times New Roman" panose="02020603050405020304" pitchFamily="18" charset="0"/>
                          <a:cs typeface="Times New Roman" panose="02020603050405020304" pitchFamily="18" charset="0"/>
                        </a:rPr>
                        <a:t>Reported ~98% detection for DoS and SYN flood attacks.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43903360"/>
                  </a:ext>
                </a:extLst>
              </a:tr>
              <a:tr h="1296533">
                <a:tc>
                  <a:txBody>
                    <a:bodyPr/>
                    <a:lstStyle/>
                    <a:p>
                      <a:r>
                        <a:rPr lang="en-US" sz="1400" dirty="0">
                          <a:latin typeface="Times New Roman" panose="02020603050405020304" pitchFamily="18" charset="0"/>
                          <a:cs typeface="Times New Roman" panose="02020603050405020304" pitchFamily="18" charset="0"/>
                        </a:rPr>
                        <a:t>A Physics-Informed Context-Aware Approach for Anomaly Detection in Tele-Driving Operations Under False Data Injection Attacks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latin typeface="Times New Roman" panose="02020603050405020304" pitchFamily="18" charset="0"/>
                          <a:cs typeface="Times New Roman" panose="02020603050405020304" pitchFamily="18" charset="0"/>
                        </a:rPr>
                        <a:t>Detect false data injection attacks using both system context and physical constraints.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latin typeface="Times New Roman" panose="02020603050405020304" pitchFamily="18" charset="0"/>
                          <a:cs typeface="Times New Roman" panose="02020603050405020304" pitchFamily="18" charset="0"/>
                        </a:rPr>
                        <a:t>Physics-informed framework combining RF, SVM,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with vehicle dynamics models.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latin typeface="Times New Roman" panose="02020603050405020304" pitchFamily="18" charset="0"/>
                          <a:cs typeface="Times New Roman" panose="02020603050405020304" pitchFamily="18" charset="0"/>
                        </a:rPr>
                        <a:t>Highly accurate and context-aware; validated only in simulated tele-driving environments.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b="0" dirty="0">
                          <a:latin typeface="Times New Roman" panose="02020603050405020304" pitchFamily="18" charset="0"/>
                          <a:cs typeface="Times New Roman" panose="02020603050405020304" pitchFamily="18" charset="0"/>
                        </a:rPr>
                        <a:t>Achieved up to 100% detection with context-aware probability scoring.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4097867"/>
                  </a:ext>
                </a:extLst>
              </a:tr>
              <a:tr h="1094850">
                <a:tc>
                  <a:txBody>
                    <a:bodyPr/>
                    <a:lstStyle/>
                    <a:p>
                      <a:r>
                        <a:rPr lang="en-US" sz="1400" dirty="0" err="1">
                          <a:latin typeface="Times New Roman" panose="02020603050405020304" pitchFamily="18" charset="0"/>
                          <a:cs typeface="Times New Roman" panose="02020603050405020304" pitchFamily="18" charset="0"/>
                        </a:rPr>
                        <a:t>AegisGuard</a:t>
                      </a:r>
                      <a:r>
                        <a:rPr lang="en-US" sz="1400" dirty="0">
                          <a:latin typeface="Times New Roman" panose="02020603050405020304" pitchFamily="18" charset="0"/>
                          <a:cs typeface="Times New Roman" panose="02020603050405020304" pitchFamily="18" charset="0"/>
                        </a:rPr>
                        <a:t>: A Context-Aware Framework for Semantic Vulnerability Detection and Risk Stratification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latin typeface="Times New Roman" panose="02020603050405020304" pitchFamily="18" charset="0"/>
                          <a:cs typeface="Times New Roman" panose="02020603050405020304" pitchFamily="18" charset="0"/>
                        </a:rPr>
                        <a:t>Identify software vulnerabilities while dynamically estimating contextual risk severity.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latin typeface="Times New Roman" panose="02020603050405020304" pitchFamily="18" charset="0"/>
                          <a:cs typeface="Times New Roman" panose="02020603050405020304" pitchFamily="18" charset="0"/>
                        </a:rPr>
                        <a:t>Integrates telemetry, static analysis, LLM reasoning, and adaptive CVSS-based risk stratification.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latin typeface="Times New Roman" panose="02020603050405020304" pitchFamily="18" charset="0"/>
                          <a:cs typeface="Times New Roman" panose="02020603050405020304" pitchFamily="18" charset="0"/>
                        </a:rPr>
                        <a:t>Rich semantic reasoning; expensive and dependent on reliable telemetry inputs.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b="0" dirty="0">
                          <a:latin typeface="Times New Roman" panose="02020603050405020304" pitchFamily="18" charset="0"/>
                          <a:cs typeface="Times New Roman" panose="02020603050405020304" pitchFamily="18" charset="0"/>
                        </a:rPr>
                        <a:t>Achieved over 90% risk classification accuracy with improved contextual prioritization.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49667015"/>
                  </a:ext>
                </a:extLst>
              </a:tr>
            </a:tbl>
          </a:graphicData>
        </a:graphic>
      </p:graphicFrame>
    </p:spTree>
    <p:extLst>
      <p:ext uri="{BB962C8B-B14F-4D97-AF65-F5344CB8AC3E}">
        <p14:creationId xmlns:p14="http://schemas.microsoft.com/office/powerpoint/2010/main" val="857449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FFC96-B24B-DA04-69AD-B1EFABDF41B8}"/>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444E4AA8-7D24-64B8-9B37-1D9E2ED2DE65}"/>
              </a:ext>
            </a:extLst>
          </p:cNvPr>
          <p:cNvSpPr txBox="1">
            <a:spLocks noGrp="1"/>
          </p:cNvSpPr>
          <p:nvPr>
            <p:ph type="title"/>
          </p:nvPr>
        </p:nvSpPr>
        <p:spPr>
          <a:xfrm>
            <a:off x="448056"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Literature Review</a:t>
            </a:r>
            <a:endParaRPr sz="30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FD43714A-3E07-3FEF-3E7D-63501153D36C}"/>
              </a:ext>
            </a:extLst>
          </p:cNvPr>
          <p:cNvSpPr>
            <a:spLocks noGrp="1"/>
          </p:cNvSpPr>
          <p:nvPr>
            <p:ph type="dt" sz="half" idx="10"/>
          </p:nvPr>
        </p:nvSpPr>
        <p:spPr/>
        <p:txBody>
          <a:bodyPr/>
          <a:lstStyle/>
          <a:p>
            <a:fld id="{E919193B-09C0-4C85-858C-650926A9B146}" type="datetime1">
              <a:rPr lang="en-IN" smtClean="0"/>
              <a:t>27-07-2026</a:t>
            </a:fld>
            <a:endParaRPr lang="en-IN"/>
          </a:p>
        </p:txBody>
      </p:sp>
      <p:sp>
        <p:nvSpPr>
          <p:cNvPr id="9" name="Footer Placeholder 8">
            <a:extLst>
              <a:ext uri="{FF2B5EF4-FFF2-40B4-BE49-F238E27FC236}">
                <a16:creationId xmlns:a16="http://schemas.microsoft.com/office/drawing/2014/main" id="{937CD8D6-138A-EF6E-3233-090C82A908D0}"/>
              </a:ext>
            </a:extLst>
          </p:cNvPr>
          <p:cNvSpPr>
            <a:spLocks noGrp="1"/>
          </p:cNvSpPr>
          <p:nvPr>
            <p:ph type="ftr" sz="quarter" idx="11"/>
          </p:nvPr>
        </p:nvSpPr>
        <p:spPr/>
        <p:txBody>
          <a:bodyPr/>
          <a:lstStyle/>
          <a:p>
            <a:r>
              <a:rPr lang="en-IN"/>
              <a:t>SCOPE</a:t>
            </a:r>
          </a:p>
        </p:txBody>
      </p:sp>
      <p:sp>
        <p:nvSpPr>
          <p:cNvPr id="10" name="Slide Number Placeholder 9">
            <a:extLst>
              <a:ext uri="{FF2B5EF4-FFF2-40B4-BE49-F238E27FC236}">
                <a16:creationId xmlns:a16="http://schemas.microsoft.com/office/drawing/2014/main" id="{C08A1E7A-B0CE-3A11-D90A-6CF172BDE6BD}"/>
              </a:ext>
            </a:extLst>
          </p:cNvPr>
          <p:cNvSpPr>
            <a:spLocks noGrp="1"/>
          </p:cNvSpPr>
          <p:nvPr>
            <p:ph type="sldNum" sz="quarter" idx="12"/>
          </p:nvPr>
        </p:nvSpPr>
        <p:spPr/>
        <p:txBody>
          <a:bodyPr/>
          <a:lstStyle/>
          <a:p>
            <a:fld id="{65201FD4-9D8D-4491-815B-63C7BF4F0034}" type="slidenum">
              <a:rPr lang="en-IN" smtClean="0"/>
              <a:t>5</a:t>
            </a:fld>
            <a:endParaRPr lang="en-IN"/>
          </a:p>
        </p:txBody>
      </p:sp>
      <p:graphicFrame>
        <p:nvGraphicFramePr>
          <p:cNvPr id="6" name="Content Placeholder 5">
            <a:extLst>
              <a:ext uri="{FF2B5EF4-FFF2-40B4-BE49-F238E27FC236}">
                <a16:creationId xmlns:a16="http://schemas.microsoft.com/office/drawing/2014/main" id="{79D6D9B9-2212-75A0-E5CE-6F7243010A29}"/>
              </a:ext>
            </a:extLst>
          </p:cNvPr>
          <p:cNvGraphicFramePr>
            <a:graphicFrameLocks noGrp="1"/>
          </p:cNvGraphicFramePr>
          <p:nvPr>
            <p:ph idx="1"/>
            <p:extLst>
              <p:ext uri="{D42A27DB-BD31-4B8C-83A1-F6EECF244321}">
                <p14:modId xmlns:p14="http://schemas.microsoft.com/office/powerpoint/2010/main" val="609670404"/>
              </p:ext>
            </p:extLst>
          </p:nvPr>
        </p:nvGraphicFramePr>
        <p:xfrm>
          <a:off x="838200" y="1386350"/>
          <a:ext cx="10515600" cy="5220929"/>
        </p:xfrm>
        <a:graphic>
          <a:graphicData uri="http://schemas.openxmlformats.org/drawingml/2006/table">
            <a:tbl>
              <a:tblPr firstRow="1" bandRow="1">
                <a:tableStyleId>{073A0DAA-6AF3-43AB-8588-CEC1D06C72B9}</a:tableStyleId>
              </a:tblPr>
              <a:tblGrid>
                <a:gridCol w="2103120">
                  <a:extLst>
                    <a:ext uri="{9D8B030D-6E8A-4147-A177-3AD203B41FA5}">
                      <a16:colId xmlns:a16="http://schemas.microsoft.com/office/drawing/2014/main" val="1418279580"/>
                    </a:ext>
                  </a:extLst>
                </a:gridCol>
                <a:gridCol w="2103120">
                  <a:extLst>
                    <a:ext uri="{9D8B030D-6E8A-4147-A177-3AD203B41FA5}">
                      <a16:colId xmlns:a16="http://schemas.microsoft.com/office/drawing/2014/main" val="386133087"/>
                    </a:ext>
                  </a:extLst>
                </a:gridCol>
                <a:gridCol w="2103120">
                  <a:extLst>
                    <a:ext uri="{9D8B030D-6E8A-4147-A177-3AD203B41FA5}">
                      <a16:colId xmlns:a16="http://schemas.microsoft.com/office/drawing/2014/main" val="1427047994"/>
                    </a:ext>
                  </a:extLst>
                </a:gridCol>
                <a:gridCol w="2103120">
                  <a:extLst>
                    <a:ext uri="{9D8B030D-6E8A-4147-A177-3AD203B41FA5}">
                      <a16:colId xmlns:a16="http://schemas.microsoft.com/office/drawing/2014/main" val="2430409407"/>
                    </a:ext>
                  </a:extLst>
                </a:gridCol>
                <a:gridCol w="2103120">
                  <a:extLst>
                    <a:ext uri="{9D8B030D-6E8A-4147-A177-3AD203B41FA5}">
                      <a16:colId xmlns:a16="http://schemas.microsoft.com/office/drawing/2014/main" val="4203565143"/>
                    </a:ext>
                  </a:extLst>
                </a:gridCol>
              </a:tblGrid>
              <a:tr h="342219">
                <a:tc>
                  <a:txBody>
                    <a:bodyPr/>
                    <a:lstStyle/>
                    <a:p>
                      <a:r>
                        <a:rPr lang="en-US" sz="1400" dirty="0">
                          <a:latin typeface="Times New Roman" panose="02020603050405020304" pitchFamily="18" charset="0"/>
                          <a:ea typeface="Tahoma" panose="020B0604030504040204" pitchFamily="34" charset="0"/>
                          <a:cs typeface="Times New Roman" panose="02020603050405020304" pitchFamily="18" charset="0"/>
                        </a:rPr>
                        <a:t>Paper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latin typeface="Times New Roman" panose="02020603050405020304" pitchFamily="18" charset="0"/>
                          <a:ea typeface="Tahoma" panose="020B0604030504040204" pitchFamily="34" charset="0"/>
                          <a:cs typeface="Times New Roman" panose="02020603050405020304" pitchFamily="18" charset="0"/>
                        </a:rPr>
                        <a:t>Objective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latin typeface="Times New Roman" panose="02020603050405020304" pitchFamily="18" charset="0"/>
                          <a:ea typeface="Tahoma" panose="020B0604030504040204" pitchFamily="34" charset="0"/>
                          <a:cs typeface="Times New Roman" panose="02020603050405020304" pitchFamily="18" charset="0"/>
                        </a:rPr>
                        <a:t>Methodology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a:latin typeface="Times New Roman" panose="02020603050405020304" pitchFamily="18" charset="0"/>
                          <a:ea typeface="Tahoma" panose="020B0604030504040204" pitchFamily="34" charset="0"/>
                          <a:cs typeface="Times New Roman" panose="02020603050405020304" pitchFamily="18" charset="0"/>
                        </a:rPr>
                        <a:t>Pros/Cons</a:t>
                      </a:r>
                      <a:endParaRPr lang="en-US" sz="1400" dirty="0">
                        <a:latin typeface="Times New Roman" panose="02020603050405020304" pitchFamily="18" charset="0"/>
                        <a:ea typeface="Tahoma" panose="020B0604030504040204" pitchFamily="34"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latin typeface="Times New Roman" panose="02020603050405020304" pitchFamily="18" charset="0"/>
                          <a:ea typeface="Tahoma" panose="020B0604030504040204" pitchFamily="34" charset="0"/>
                          <a:cs typeface="Times New Roman" panose="02020603050405020304" pitchFamily="18" charset="0"/>
                        </a:rPr>
                        <a:t>Findings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5273782"/>
                  </a:ext>
                </a:extLst>
              </a:tr>
              <a:tr h="1165981">
                <a:tc>
                  <a:txBody>
                    <a:bodyPr/>
                    <a:lstStyle/>
                    <a:p>
                      <a:r>
                        <a:rPr lang="en-US" sz="1400" dirty="0">
                          <a:latin typeface="Times New Roman" panose="02020603050405020304" pitchFamily="18" charset="0"/>
                          <a:cs typeface="Times New Roman" panose="02020603050405020304" pitchFamily="18" charset="0"/>
                        </a:rPr>
                        <a:t>Architectures for Detecting Interleaved Multi-Stage Network Attacks Using Hidden Markov Models</a:t>
                      </a:r>
                      <a:endParaRPr lang="en-US" sz="1400" dirty="0">
                        <a:latin typeface="Times New Roman" panose="02020603050405020304" pitchFamily="18" charset="0"/>
                        <a:ea typeface="Tahoma" panose="020B0604030504040204" pitchFamily="34"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latin typeface="Times New Roman" panose="02020603050405020304" pitchFamily="18" charset="0"/>
                          <a:cs typeface="Times New Roman" panose="02020603050405020304" pitchFamily="18" charset="0"/>
                        </a:rPr>
                        <a:t>Detect interleaved multi-stage attacks by modeling attack progression with HMMs.</a:t>
                      </a:r>
                      <a:endParaRPr lang="en-US" sz="1400" dirty="0">
                        <a:latin typeface="Times New Roman" panose="02020603050405020304" pitchFamily="18" charset="0"/>
                        <a:ea typeface="Tahoma" panose="020B0604030504040204" pitchFamily="34"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latin typeface="Times New Roman" panose="02020603050405020304" pitchFamily="18" charset="0"/>
                          <a:cs typeface="Times New Roman" panose="02020603050405020304" pitchFamily="18" charset="0"/>
                        </a:rPr>
                        <a:t>Two HMM architectures with alert de-interleaving before sequential attack-state inference.</a:t>
                      </a:r>
                      <a:endParaRPr lang="en-US" sz="1400" dirty="0">
                        <a:latin typeface="Times New Roman" panose="02020603050405020304" pitchFamily="18" charset="0"/>
                        <a:ea typeface="Tahoma" panose="020B0604030504040204" pitchFamily="34"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latin typeface="Times New Roman" panose="02020603050405020304" pitchFamily="18" charset="0"/>
                          <a:cs typeface="Times New Roman" panose="02020603050405020304" pitchFamily="18" charset="0"/>
                        </a:rPr>
                        <a:t>Models attack progression well; requires predefined attack models and outdated datasets.</a:t>
                      </a:r>
                      <a:endParaRPr lang="en-US" sz="1400" dirty="0">
                        <a:latin typeface="Times New Roman" panose="02020603050405020304" pitchFamily="18" charset="0"/>
                        <a:ea typeface="Tahoma" panose="020B0604030504040204" pitchFamily="34"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b="0" dirty="0">
                          <a:latin typeface="Times New Roman" panose="02020603050405020304" pitchFamily="18" charset="0"/>
                          <a:cs typeface="Times New Roman" panose="02020603050405020304" pitchFamily="18" charset="0"/>
                        </a:rPr>
                        <a:t>Architecture II achieved &lt;5% state detection error in complex scenarios.</a:t>
                      </a:r>
                      <a:endParaRPr lang="en-US" sz="1400" b="0" dirty="0">
                        <a:latin typeface="Times New Roman" panose="02020603050405020304" pitchFamily="18" charset="0"/>
                        <a:ea typeface="Tahoma" panose="020B0604030504040204" pitchFamily="34"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58979205"/>
                  </a:ext>
                </a:extLst>
              </a:tr>
              <a:tr h="1165981">
                <a:tc>
                  <a:txBody>
                    <a:bodyPr/>
                    <a:lstStyle/>
                    <a:p>
                      <a:r>
                        <a:rPr lang="en-US" sz="1400" dirty="0">
                          <a:latin typeface="Times New Roman" panose="02020603050405020304" pitchFamily="18" charset="0"/>
                          <a:ea typeface="Tahoma" panose="020B0604030504040204" pitchFamily="34" charset="0"/>
                          <a:cs typeface="Times New Roman" panose="02020603050405020304" pitchFamily="18" charset="0"/>
                        </a:rPr>
                        <a:t>An End-to-End Framework for Machine Learning-Based Network Intrusion Detection System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latin typeface="Times New Roman" panose="02020603050405020304" pitchFamily="18" charset="0"/>
                          <a:ea typeface="Tahoma" panose="020B0604030504040204" pitchFamily="34" charset="0"/>
                          <a:cs typeface="Times New Roman" panose="02020603050405020304" pitchFamily="18" charset="0"/>
                        </a:rPr>
                        <a:t>Develop a complete machine-learning pipeline for automated intrusion detection.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latin typeface="Times New Roman" panose="02020603050405020304" pitchFamily="18" charset="0"/>
                          <a:ea typeface="Tahoma" panose="020B0604030504040204" pitchFamily="34" charset="0"/>
                          <a:cs typeface="Times New Roman" panose="02020603050405020304" pitchFamily="18" charset="0"/>
                        </a:rPr>
                        <a:t>End-to-end preprocessing, feature extraction, hyperparameter tuning, and ensemble ML classifiers.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latin typeface="Times New Roman" panose="02020603050405020304" pitchFamily="18" charset="0"/>
                          <a:ea typeface="Tahoma" panose="020B0604030504040204" pitchFamily="34" charset="0"/>
                          <a:cs typeface="Times New Roman" panose="02020603050405020304" pitchFamily="18" charset="0"/>
                        </a:rPr>
                        <a:t>Simple deployment pipeline; performance decreases on imbalanced attack datasets.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b="0" dirty="0">
                          <a:latin typeface="Times New Roman" panose="02020603050405020304" pitchFamily="18" charset="0"/>
                          <a:ea typeface="Tahoma" panose="020B0604030504040204" pitchFamily="34" charset="0"/>
                          <a:cs typeface="Times New Roman" panose="02020603050405020304" pitchFamily="18" charset="0"/>
                        </a:rPr>
                        <a:t>Achieved 92.3% accuracy on NSL-KDD benchmark dataset.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69172275"/>
                  </a:ext>
                </a:extLst>
              </a:tr>
              <a:tr h="1380767">
                <a:tc>
                  <a:txBody>
                    <a:bodyPr/>
                    <a:lstStyle/>
                    <a:p>
                      <a:r>
                        <a:rPr lang="en-US" sz="1400" dirty="0">
                          <a:latin typeface="Times New Roman" panose="02020603050405020304" pitchFamily="18" charset="0"/>
                          <a:ea typeface="Tahoma" panose="020B0604030504040204" pitchFamily="34" charset="0"/>
                          <a:cs typeface="Times New Roman" panose="02020603050405020304" pitchFamily="18" charset="0"/>
                        </a:rPr>
                        <a:t>An Ensemble Intrusion Detection Method for Train Ethernet Consist Network Based on CNN and RNN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latin typeface="Times New Roman" panose="02020603050405020304" pitchFamily="18" charset="0"/>
                          <a:ea typeface="Tahoma" panose="020B0604030504040204" pitchFamily="34" charset="0"/>
                          <a:cs typeface="Times New Roman" panose="02020603050405020304" pitchFamily="18" charset="0"/>
                        </a:rPr>
                        <a:t>Detect railway network intrusions using spatial and temporal deep learning features.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latin typeface="Times New Roman" panose="02020603050405020304" pitchFamily="18" charset="0"/>
                          <a:ea typeface="Tahoma" panose="020B0604030504040204" pitchFamily="34" charset="0"/>
                          <a:cs typeface="Times New Roman" panose="02020603050405020304" pitchFamily="18" charset="0"/>
                        </a:rPr>
                        <a:t>CNN extracts packet features while RNN/LSTM models sequential traffic behavior.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latin typeface="Times New Roman" panose="02020603050405020304" pitchFamily="18" charset="0"/>
                          <a:ea typeface="Tahoma" panose="020B0604030504040204" pitchFamily="34" charset="0"/>
                          <a:cs typeface="Times New Roman" panose="02020603050405020304" pitchFamily="18" charset="0"/>
                        </a:rPr>
                        <a:t>Excellent sequence learning; domain-specific dataset limits generalization.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b="0" dirty="0">
                          <a:latin typeface="Times New Roman" panose="02020603050405020304" pitchFamily="18" charset="0"/>
                          <a:ea typeface="Tahoma" panose="020B0604030504040204" pitchFamily="34" charset="0"/>
                          <a:cs typeface="Times New Roman" panose="02020603050405020304" pitchFamily="18" charset="0"/>
                        </a:rPr>
                        <a:t>Achieved over 99% detection accuracy on railway network traffic.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71227355"/>
                  </a:ext>
                </a:extLst>
              </a:tr>
              <a:tr h="1165981">
                <a:tc>
                  <a:txBody>
                    <a:bodyPr/>
                    <a:lstStyle/>
                    <a:p>
                      <a:r>
                        <a:rPr lang="en-US" sz="1400" dirty="0">
                          <a:latin typeface="Times New Roman" panose="02020603050405020304" pitchFamily="18" charset="0"/>
                          <a:ea typeface="Tahoma" panose="020B0604030504040204" pitchFamily="34" charset="0"/>
                          <a:cs typeface="Times New Roman" panose="02020603050405020304" pitchFamily="18" charset="0"/>
                        </a:rPr>
                        <a:t>Anomaly Detection in Event-Triggered Traffic Time Series via Similarity Learning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latin typeface="Times New Roman" panose="02020603050405020304" pitchFamily="18" charset="0"/>
                          <a:ea typeface="Tahoma" panose="020B0604030504040204" pitchFamily="34" charset="0"/>
                          <a:cs typeface="Times New Roman" panose="02020603050405020304" pitchFamily="18" charset="0"/>
                        </a:rPr>
                        <a:t>Detect anomalies in event-triggered traffic using temporal similarity representations.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latin typeface="Times New Roman" panose="02020603050405020304" pitchFamily="18" charset="0"/>
                          <a:ea typeface="Tahoma" panose="020B0604030504040204" pitchFamily="34" charset="0"/>
                          <a:cs typeface="Times New Roman" panose="02020603050405020304" pitchFamily="18" charset="0"/>
                        </a:rPr>
                        <a:t>Contrastive similarity learning with dynamic time-series alignment and unsupervised representation learning.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latin typeface="Times New Roman" panose="02020603050405020304" pitchFamily="18" charset="0"/>
                          <a:ea typeface="Tahoma" panose="020B0604030504040204" pitchFamily="34" charset="0"/>
                          <a:cs typeface="Times New Roman" panose="02020603050405020304" pitchFamily="18" charset="0"/>
                        </a:rPr>
                        <a:t>Captures complex temporal patterns; computationally expensive and difficult to explain.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b="0" dirty="0">
                          <a:latin typeface="Times New Roman" panose="02020603050405020304" pitchFamily="18" charset="0"/>
                          <a:ea typeface="Tahoma" panose="020B0604030504040204" pitchFamily="34" charset="0"/>
                          <a:cs typeface="Times New Roman" panose="02020603050405020304" pitchFamily="18" charset="0"/>
                        </a:rPr>
                        <a:t>Reported strong F1 and AUC performance on event-triggered traffic datasets.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47924960"/>
                  </a:ext>
                </a:extLst>
              </a:tr>
            </a:tbl>
          </a:graphicData>
        </a:graphic>
      </p:graphicFrame>
    </p:spTree>
    <p:extLst>
      <p:ext uri="{BB962C8B-B14F-4D97-AF65-F5344CB8AC3E}">
        <p14:creationId xmlns:p14="http://schemas.microsoft.com/office/powerpoint/2010/main" val="36016385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64C5E-26B3-2EE9-895A-F822E4C49ED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7F8AC8-6380-9217-CA4C-1FBF1C25C60E}"/>
              </a:ext>
            </a:extLst>
          </p:cNvPr>
          <p:cNvSpPr>
            <a:spLocks noGrp="1"/>
          </p:cNvSpPr>
          <p:nvPr>
            <p:ph idx="1"/>
          </p:nvPr>
        </p:nvSpPr>
        <p:spPr/>
        <p:txBody>
          <a:bodyPr>
            <a:normAutofit fontScale="85000" lnSpcReduction="10000"/>
          </a:bodyPr>
          <a:lstStyle/>
          <a:p>
            <a:r>
              <a:rPr lang="en-US" dirty="0"/>
              <a:t>The reviewed studies demonstrate strong performance using machine learning, deep learning, statistical methods, context-aware frameworks, and sequential models such as CNNs, RNNs, and HMMs. However, many approaches focus on </a:t>
            </a:r>
            <a:r>
              <a:rPr lang="en-US" b="1" dirty="0"/>
              <a:t>individual network events, specific attack types, or domain-specific environments</a:t>
            </a:r>
            <a:r>
              <a:rPr lang="en-US" dirty="0"/>
              <a:t>, limiting generalization. Several methods rely on benchmark datasets such as NSL-KDD and CICIDS2017, which may not adequately represent modern web application attack </a:t>
            </a:r>
            <a:r>
              <a:rPr lang="en-US" dirty="0" err="1"/>
              <a:t>behaviour</a:t>
            </a:r>
            <a:r>
              <a:rPr lang="en-US" dirty="0"/>
              <a:t> and realistic attack progression.</a:t>
            </a:r>
          </a:p>
          <a:p>
            <a:r>
              <a:rPr lang="en-US" dirty="0"/>
              <a:t>A significant gap exists in </a:t>
            </a:r>
            <a:r>
              <a:rPr lang="en-US" b="1" dirty="0"/>
              <a:t>session-aware detection of multi-stage web attacks</a:t>
            </a:r>
            <a:r>
              <a:rPr lang="en-US" dirty="0"/>
              <a:t>, where multiple HTTP requests are correlated to understand evolving attacker </a:t>
            </a:r>
            <a:r>
              <a:rPr lang="en-US" dirty="0" err="1"/>
              <a:t>behaviour</a:t>
            </a:r>
            <a:r>
              <a:rPr lang="en-US" dirty="0"/>
              <a:t>. Existing approaches rarely combine request-level characteristics with sequential session context to distinguish stages such as reconnaissance, fuzzing, injection, and exploitation. This creates scope for context-aware sequential modelling capable of detecting attack progression and identifying threats before final exploitation.</a:t>
            </a:r>
          </a:p>
        </p:txBody>
      </p:sp>
      <p:sp>
        <p:nvSpPr>
          <p:cNvPr id="4" name="object 2">
            <a:extLst>
              <a:ext uri="{FF2B5EF4-FFF2-40B4-BE49-F238E27FC236}">
                <a16:creationId xmlns:a16="http://schemas.microsoft.com/office/drawing/2014/main" id="{2E07AC55-BA5E-4123-39E6-B79860C6C9EE}"/>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Research Gap</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A2430A72-466B-CBDE-2F02-635BA91A98AF}"/>
              </a:ext>
            </a:extLst>
          </p:cNvPr>
          <p:cNvSpPr>
            <a:spLocks noGrp="1"/>
          </p:cNvSpPr>
          <p:nvPr>
            <p:ph type="dt" sz="half" idx="10"/>
          </p:nvPr>
        </p:nvSpPr>
        <p:spPr/>
        <p:txBody>
          <a:bodyPr/>
          <a:lstStyle/>
          <a:p>
            <a:fld id="{49AE986A-8308-4C4E-A0F3-DDD9B5B25762}" type="datetime1">
              <a:rPr lang="en-IN" smtClean="0"/>
              <a:t>27-07-2026</a:t>
            </a:fld>
            <a:endParaRPr lang="en-IN"/>
          </a:p>
        </p:txBody>
      </p:sp>
      <p:sp>
        <p:nvSpPr>
          <p:cNvPr id="5" name="Footer Placeholder 4">
            <a:extLst>
              <a:ext uri="{FF2B5EF4-FFF2-40B4-BE49-F238E27FC236}">
                <a16:creationId xmlns:a16="http://schemas.microsoft.com/office/drawing/2014/main" id="{1711DDA3-7A7C-1F61-1795-3A01ED678FA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D94E3226-1DB1-3A4D-CE37-4A2AD48EF1F1}"/>
              </a:ext>
            </a:extLst>
          </p:cNvPr>
          <p:cNvSpPr>
            <a:spLocks noGrp="1"/>
          </p:cNvSpPr>
          <p:nvPr>
            <p:ph type="sldNum" sz="quarter" idx="12"/>
          </p:nvPr>
        </p:nvSpPr>
        <p:spPr/>
        <p:txBody>
          <a:bodyPr/>
          <a:lstStyle/>
          <a:p>
            <a:fld id="{65201FD4-9D8D-4491-815B-63C7BF4F0034}" type="slidenum">
              <a:rPr lang="en-IN" smtClean="0"/>
              <a:t>6</a:t>
            </a:fld>
            <a:endParaRPr lang="en-IN"/>
          </a:p>
        </p:txBody>
      </p:sp>
    </p:spTree>
    <p:extLst>
      <p:ext uri="{BB962C8B-B14F-4D97-AF65-F5344CB8AC3E}">
        <p14:creationId xmlns:p14="http://schemas.microsoft.com/office/powerpoint/2010/main" val="2623102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50AAC-0156-D6F5-7153-C7919999408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83ADE1-559A-2DC2-A801-6A915E106C60}"/>
              </a:ext>
            </a:extLst>
          </p:cNvPr>
          <p:cNvSpPr>
            <a:spLocks noGrp="1"/>
          </p:cNvSpPr>
          <p:nvPr>
            <p:ph idx="1"/>
          </p:nvPr>
        </p:nvSpPr>
        <p:spPr>
          <a:xfrm>
            <a:off x="838200" y="1371600"/>
            <a:ext cx="10515600" cy="4805363"/>
          </a:xfrm>
        </p:spPr>
        <p:txBody>
          <a:bodyPr>
            <a:normAutofit fontScale="92500" lnSpcReduction="10000"/>
          </a:bodyPr>
          <a:lstStyle/>
          <a:p>
            <a:r>
              <a:rPr lang="en-US" dirty="0"/>
              <a:t>Develop a context-aware IDS that:</a:t>
            </a:r>
          </a:p>
          <a:p>
            <a:pPr lvl="1"/>
            <a:r>
              <a:rPr lang="en-US" dirty="0"/>
              <a:t>Analyses sequential </a:t>
            </a:r>
            <a:r>
              <a:rPr lang="en-US" b="1" dirty="0"/>
              <a:t>HTTP requests </a:t>
            </a:r>
            <a:r>
              <a:rPr lang="en-US" dirty="0"/>
              <a:t>within user sessions. </a:t>
            </a:r>
          </a:p>
          <a:p>
            <a:pPr lvl="1"/>
            <a:r>
              <a:rPr lang="en-US" dirty="0"/>
              <a:t>Identifies progression through </a:t>
            </a:r>
            <a:r>
              <a:rPr lang="en-US" b="1" dirty="0"/>
              <a:t>Normal, Reconnaissance, Fuzzing, Injection, and Exploitation</a:t>
            </a:r>
            <a:r>
              <a:rPr lang="en-US" dirty="0"/>
              <a:t> stages. </a:t>
            </a:r>
          </a:p>
          <a:p>
            <a:pPr lvl="1"/>
            <a:r>
              <a:rPr lang="en-US" dirty="0"/>
              <a:t>Detects </a:t>
            </a:r>
            <a:r>
              <a:rPr lang="en-US" b="1" dirty="0"/>
              <a:t>multi-stage injection </a:t>
            </a:r>
            <a:r>
              <a:rPr lang="en-US" dirty="0"/>
              <a:t>attacks using </a:t>
            </a:r>
            <a:r>
              <a:rPr lang="en-US" dirty="0" err="1"/>
              <a:t>behavioural</a:t>
            </a:r>
            <a:r>
              <a:rPr lang="en-US" dirty="0"/>
              <a:t> and </a:t>
            </a:r>
            <a:r>
              <a:rPr lang="en-US" b="1" dirty="0"/>
              <a:t>session-level context</a:t>
            </a:r>
            <a:r>
              <a:rPr lang="en-US" dirty="0"/>
              <a:t>. </a:t>
            </a:r>
          </a:p>
          <a:p>
            <a:pPr lvl="1"/>
            <a:r>
              <a:rPr lang="en-US" b="1" dirty="0"/>
              <a:t>Reduces false positives </a:t>
            </a:r>
            <a:r>
              <a:rPr lang="en-US" dirty="0"/>
              <a:t>compared with isolated request analysis. </a:t>
            </a:r>
          </a:p>
          <a:p>
            <a:pPr lvl="1"/>
            <a:r>
              <a:rPr lang="en-US" dirty="0"/>
              <a:t>Provides </a:t>
            </a:r>
            <a:r>
              <a:rPr lang="en-US" b="1" dirty="0"/>
              <a:t>attack-stage classification</a:t>
            </a:r>
            <a:r>
              <a:rPr lang="en-US" dirty="0"/>
              <a:t>, severity estimation, confidence, and </a:t>
            </a:r>
            <a:r>
              <a:rPr lang="en-US" b="1" dirty="0"/>
              <a:t>explainable reasoning</a:t>
            </a:r>
            <a:r>
              <a:rPr lang="en-US" dirty="0"/>
              <a:t>. </a:t>
            </a:r>
            <a:endParaRPr lang="en-US" b="1" dirty="0"/>
          </a:p>
          <a:p>
            <a:r>
              <a:rPr lang="en-US" dirty="0"/>
              <a:t>SDG 9 – </a:t>
            </a:r>
            <a:r>
              <a:rPr lang="en-US" b="1" dirty="0"/>
              <a:t>Industry, Innovation and Infrastructure:</a:t>
            </a:r>
            <a:r>
              <a:rPr lang="en-US" dirty="0"/>
              <a:t> Supports resilient digital infrastructure through intelligent cybersecurity and improved detection of sophisticated web attacks.</a:t>
            </a:r>
            <a:endParaRPr lang="en-US" b="1" dirty="0"/>
          </a:p>
          <a:p>
            <a:r>
              <a:rPr lang="en-US" dirty="0"/>
              <a:t>TRL 3 – </a:t>
            </a:r>
            <a:r>
              <a:rPr lang="en-US" b="1" dirty="0"/>
              <a:t>Experimental Proof of Concept:</a:t>
            </a:r>
            <a:r>
              <a:rPr lang="en-US" dirty="0"/>
              <a:t> Core concept, attack lifecycle, dataset pipeline, and detection framework are defined; full model validation and operational deployment remain pending.</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object 2">
            <a:extLst>
              <a:ext uri="{FF2B5EF4-FFF2-40B4-BE49-F238E27FC236}">
                <a16:creationId xmlns:a16="http://schemas.microsoft.com/office/drawing/2014/main" id="{22BADD22-870A-4D8F-B788-CCCD5C223F9A}"/>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Objectives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1BE4F0EB-E8F1-14D8-E22A-38E83F9BFA94}"/>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27-07-2026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76D8B93F-BA73-08B5-E0DD-D434FA25B92B}"/>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E6BABF72-E9F9-626A-63CD-EA20C0714ABC}"/>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7</a:t>
            </a:fld>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5962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0E1A0-FA4A-8258-6E10-9F00EDC0BC8B}"/>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7CFC0C65-61CC-E657-43F7-99C8E5362448}"/>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References</a:t>
            </a:r>
            <a:endParaRPr sz="3000" b="1" dirty="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CC4F09CD-956A-B8B3-1183-9C28C80DDB9A}"/>
              </a:ext>
            </a:extLst>
          </p:cNvPr>
          <p:cNvSpPr>
            <a:spLocks noGrp="1" noChangeArrowheads="1"/>
          </p:cNvSpPr>
          <p:nvPr>
            <p:ph idx="1"/>
          </p:nvPr>
        </p:nvSpPr>
        <p:spPr bwMode="auto">
          <a:xfrm>
            <a:off x="691896" y="1406426"/>
            <a:ext cx="10808208"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r>
              <a:rPr lang="en-US" sz="1600" dirty="0"/>
              <a:t>[1] T. </a:t>
            </a:r>
            <a:r>
              <a:rPr lang="en-US" sz="1600" dirty="0" err="1"/>
              <a:t>Wisanwanichthan</a:t>
            </a:r>
            <a:r>
              <a:rPr lang="en-US" sz="1600" dirty="0"/>
              <a:t> and M. </a:t>
            </a:r>
            <a:r>
              <a:rPr lang="en-US" sz="1600" dirty="0" err="1"/>
              <a:t>Thammawichai</a:t>
            </a:r>
            <a:r>
              <a:rPr lang="en-US" sz="1600" dirty="0"/>
              <a:t>, "A Double-Layered Hybrid Approach for Network Intrusion Detection System Using Combined Naive Bayes and SVM," </a:t>
            </a:r>
            <a:r>
              <a:rPr lang="en-US" sz="1600" i="1" dirty="0"/>
              <a:t>IEEE Access</a:t>
            </a:r>
            <a:r>
              <a:rPr lang="en-US" sz="1600" dirty="0"/>
              <a:t>, vol. 9, pp. 138432-138450, October 2021.</a:t>
            </a:r>
          </a:p>
          <a:p>
            <a:pPr marL="0" indent="0" eaLnBrk="0" fontAlgn="base" hangingPunct="0">
              <a:lnSpc>
                <a:spcPct val="100000"/>
              </a:lnSpc>
              <a:spcBef>
                <a:spcPct val="0"/>
              </a:spcBef>
              <a:spcAft>
                <a:spcPct val="0"/>
              </a:spcAft>
              <a:buNone/>
            </a:pPr>
            <a:r>
              <a:rPr lang="en-US" sz="1600" dirty="0"/>
              <a:t>[2] A. G. Tartakovsky, B. L. </a:t>
            </a:r>
            <a:r>
              <a:rPr lang="en-US" sz="1600" dirty="0" err="1"/>
              <a:t>Rozovskii</a:t>
            </a:r>
            <a:r>
              <a:rPr lang="en-US" sz="1600" dirty="0"/>
              <a:t>, R. B. Blažek, and H. Kim, "A Novel Approach to Detection of Intrusions in Computer Networks via Adaptive Sequential and Batch-Sequential Change-Point Detection Methods," </a:t>
            </a:r>
            <a:r>
              <a:rPr lang="en-US" sz="1600" i="1" dirty="0"/>
              <a:t>IEEE Transactions on Signal Processing</a:t>
            </a:r>
            <a:r>
              <a:rPr lang="en-US" sz="1600" dirty="0"/>
              <a:t>, vol. 54, no. 9, pp. 3372-3382, September 2006.</a:t>
            </a:r>
          </a:p>
          <a:p>
            <a:pPr marL="0" indent="0" eaLnBrk="0" fontAlgn="base" hangingPunct="0">
              <a:lnSpc>
                <a:spcPct val="100000"/>
              </a:lnSpc>
              <a:spcBef>
                <a:spcPct val="0"/>
              </a:spcBef>
              <a:spcAft>
                <a:spcPct val="0"/>
              </a:spcAft>
              <a:buNone/>
            </a:pPr>
            <a:r>
              <a:rPr lang="en-US" sz="1600" dirty="0"/>
              <a:t>[3] S. Ghosh, A. </a:t>
            </a:r>
            <a:r>
              <a:rPr lang="en-US" sz="1600" dirty="0" err="1"/>
              <a:t>Zaboli</a:t>
            </a:r>
            <a:r>
              <a:rPr lang="en-US" sz="1600" dirty="0"/>
              <a:t>, J. Hong, and J. Kwon, "A Physics-Informed Context-Aware Approach for Anomaly Detection in Tele-Driving Operations Under False Data Injection Attacks," </a:t>
            </a:r>
            <a:r>
              <a:rPr lang="en-US" sz="1600" i="1" dirty="0"/>
              <a:t>IEEE Access</a:t>
            </a:r>
            <a:r>
              <a:rPr lang="en-US" sz="1600" dirty="0"/>
              <a:t>, vol. 13, pp. 176830-176844, October 2025.</a:t>
            </a:r>
          </a:p>
          <a:p>
            <a:pPr marL="0" indent="0" eaLnBrk="0" fontAlgn="base" hangingPunct="0">
              <a:lnSpc>
                <a:spcPct val="100000"/>
              </a:lnSpc>
              <a:spcBef>
                <a:spcPct val="0"/>
              </a:spcBef>
              <a:spcAft>
                <a:spcPct val="0"/>
              </a:spcAft>
              <a:buNone/>
            </a:pPr>
            <a:r>
              <a:rPr lang="en-US" sz="1600" dirty="0"/>
              <a:t>[4] P.-C. Huang, C.-H. Mao, and C.-M. Lai, "</a:t>
            </a:r>
            <a:r>
              <a:rPr lang="en-US" sz="1600" dirty="0" err="1"/>
              <a:t>AegisGuard</a:t>
            </a:r>
            <a:r>
              <a:rPr lang="en-US" sz="1600" dirty="0"/>
              <a:t>: A Context-Aware Framework for Semantic Vulnerability Detection and Risk Stratification," </a:t>
            </a:r>
            <a:r>
              <a:rPr lang="en-US" sz="1600" i="1" dirty="0"/>
              <a:t>IEEE Access</a:t>
            </a:r>
            <a:r>
              <a:rPr lang="en-US" sz="1600" dirty="0"/>
              <a:t>, vol. 14, pp. 26538-26551, February 2026.</a:t>
            </a:r>
          </a:p>
          <a:p>
            <a:pPr marL="0" indent="0" eaLnBrk="0" fontAlgn="base" hangingPunct="0">
              <a:lnSpc>
                <a:spcPct val="100000"/>
              </a:lnSpc>
              <a:spcBef>
                <a:spcPct val="0"/>
              </a:spcBef>
              <a:spcAft>
                <a:spcPct val="0"/>
              </a:spcAft>
              <a:buNone/>
            </a:pPr>
            <a:r>
              <a:rPr lang="en-US" sz="1600" dirty="0"/>
              <a:t>[5] G. de Carvalho Bertoli, L. A. Pereira Júnior, O. Saotome, A. L. dos Santos, F. A. N. Verri, C. A. C. Marcondes, S. Barbieri, M. S. Rodrigues, and J. M. P. de Oliveira, "An End-to-End Framework for Machine Learning-Based Network Intrusion Detection System," </a:t>
            </a:r>
            <a:r>
              <a:rPr lang="en-US" sz="1600" i="1" dirty="0"/>
              <a:t>IEEE Access</a:t>
            </a:r>
            <a:r>
              <a:rPr lang="en-US" sz="1600" dirty="0"/>
              <a:t>, vol. 9, pp. 106790-106805, July 2021.</a:t>
            </a:r>
          </a:p>
          <a:p>
            <a:pPr marL="0" indent="0" eaLnBrk="0" fontAlgn="base" hangingPunct="0">
              <a:lnSpc>
                <a:spcPct val="100000"/>
              </a:lnSpc>
              <a:spcBef>
                <a:spcPct val="0"/>
              </a:spcBef>
              <a:spcAft>
                <a:spcPct val="0"/>
              </a:spcAft>
              <a:buNone/>
            </a:pPr>
            <a:r>
              <a:rPr lang="en-US" sz="1600" dirty="0"/>
              <a:t>[6] C. Yue, L. Wang, D. Wang, R. Duo, and X. Nie, "An Ensemble Intrusion Detection Method for Train Ethernet Consist Network Based on CNN and RNN," </a:t>
            </a:r>
            <a:r>
              <a:rPr lang="en-US" sz="1600" i="1" dirty="0"/>
              <a:t>IEEE Access</a:t>
            </a:r>
            <a:r>
              <a:rPr lang="en-US" sz="1600" dirty="0"/>
              <a:t>, vol. 9, pp. 59527-59539, April 2021.</a:t>
            </a:r>
          </a:p>
          <a:p>
            <a:pPr marL="0" indent="0" eaLnBrk="0" fontAlgn="base" hangingPunct="0">
              <a:lnSpc>
                <a:spcPct val="100000"/>
              </a:lnSpc>
              <a:spcBef>
                <a:spcPct val="0"/>
              </a:spcBef>
              <a:spcAft>
                <a:spcPct val="0"/>
              </a:spcAft>
              <a:buNone/>
            </a:pPr>
            <a:r>
              <a:rPr lang="en-US" sz="1600" dirty="0"/>
              <a:t>[7] S. Dou, K. Yang, Y. Jiao, C. Qiu, and K. Ren, "Anomaly Detection in Event-Triggered Traffic Time Series via Similarity Learning," </a:t>
            </a:r>
            <a:r>
              <a:rPr lang="en-US" sz="1600" i="1" dirty="0"/>
              <a:t>IEEE Transactions on Dependable and Secure Computing</a:t>
            </a:r>
            <a:r>
              <a:rPr lang="en-US" sz="1600" dirty="0"/>
              <a:t>, vol. 22, no. 2, pp. 888-902, March/April 2025.</a:t>
            </a:r>
          </a:p>
          <a:p>
            <a:pPr marL="0" indent="0" eaLnBrk="0" fontAlgn="base" hangingPunct="0">
              <a:lnSpc>
                <a:spcPct val="100000"/>
              </a:lnSpc>
              <a:spcBef>
                <a:spcPct val="0"/>
              </a:spcBef>
              <a:spcAft>
                <a:spcPct val="0"/>
              </a:spcAft>
              <a:buNone/>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lang="en-US" sz="1600" dirty="0"/>
              <a:t>8] T. </a:t>
            </a:r>
            <a:r>
              <a:rPr lang="en-US" sz="1600" dirty="0" err="1"/>
              <a:t>Shawly</a:t>
            </a:r>
            <a:r>
              <a:rPr lang="en-US" sz="1600" dirty="0"/>
              <a:t>, A. </a:t>
            </a:r>
            <a:r>
              <a:rPr lang="en-US" sz="1600" dirty="0" err="1"/>
              <a:t>Elghariani</a:t>
            </a:r>
            <a:r>
              <a:rPr lang="en-US" sz="1600" dirty="0"/>
              <a:t>, J. Kobes, and A. Ghafoor, "Architectures for Detecting Interleaved Multi-Stage Network Attacks Using Hidden Markov Models," </a:t>
            </a:r>
            <a:r>
              <a:rPr lang="en-US" sz="1600" i="1" dirty="0"/>
              <a:t>IEEE Transactions on Dependable and Secure Computing</a:t>
            </a:r>
            <a:r>
              <a:rPr lang="en-US" sz="1600" dirty="0"/>
              <a:t>, vol. 18, no. 5, pp. 2316-2330, September/October 2021.</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732D3DB-7149-E1E5-D5F9-4FC93A788894}"/>
              </a:ext>
            </a:extLst>
          </p:cNvPr>
          <p:cNvSpPr>
            <a:spLocks noGrp="1"/>
          </p:cNvSpPr>
          <p:nvPr>
            <p:ph type="dt" sz="half" idx="10"/>
          </p:nvPr>
        </p:nvSpPr>
        <p:spPr/>
        <p:txBody>
          <a:bodyPr/>
          <a:lstStyle/>
          <a:p>
            <a:fld id="{0A7C7B6C-E68D-4047-8A1E-3C7BD2842AF7}" type="datetime1">
              <a:rPr lang="en-IN" smtClean="0"/>
              <a:t>27-07-2026</a:t>
            </a:fld>
            <a:endParaRPr lang="en-IN"/>
          </a:p>
        </p:txBody>
      </p:sp>
      <p:sp>
        <p:nvSpPr>
          <p:cNvPr id="6" name="Footer Placeholder 5">
            <a:extLst>
              <a:ext uri="{FF2B5EF4-FFF2-40B4-BE49-F238E27FC236}">
                <a16:creationId xmlns:a16="http://schemas.microsoft.com/office/drawing/2014/main" id="{CEBCABB1-7C63-52E3-2815-3651AE7E9F7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E431EAEC-BCE3-2979-69C6-273309B9FFA7}"/>
              </a:ext>
            </a:extLst>
          </p:cNvPr>
          <p:cNvSpPr>
            <a:spLocks noGrp="1"/>
          </p:cNvSpPr>
          <p:nvPr>
            <p:ph type="sldNum" sz="quarter" idx="12"/>
          </p:nvPr>
        </p:nvSpPr>
        <p:spPr/>
        <p:txBody>
          <a:bodyPr/>
          <a:lstStyle/>
          <a:p>
            <a:fld id="{65201FD4-9D8D-4491-815B-63C7BF4F0034}" type="slidenum">
              <a:rPr lang="en-IN" smtClean="0"/>
              <a:t>8</a:t>
            </a:fld>
            <a:endParaRPr lang="en-IN"/>
          </a:p>
        </p:txBody>
      </p:sp>
    </p:spTree>
    <p:extLst>
      <p:ext uri="{BB962C8B-B14F-4D97-AF65-F5344CB8AC3E}">
        <p14:creationId xmlns:p14="http://schemas.microsoft.com/office/powerpoint/2010/main" val="35105262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256</TotalTime>
  <Words>1527</Words>
  <Application>Microsoft Office PowerPoint</Application>
  <PresentationFormat>Widescreen</PresentationFormat>
  <Paragraphs>107</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Times New Roman</vt:lpstr>
      <vt:lpstr>Office Theme</vt:lpstr>
      <vt:lpstr>B.Tech BCSE497J – Project-I Context-Aware AI-Based Detection of Multi-Stage Web Injection Attacks Using Sequential HTTP Request Analysis</vt:lpstr>
      <vt:lpstr>Aim</vt:lpstr>
      <vt:lpstr>Abstract</vt:lpstr>
      <vt:lpstr>Literature Review</vt:lpstr>
      <vt:lpstr>Literature Review</vt:lpstr>
      <vt:lpstr>Research Gap</vt:lpstr>
      <vt:lpstr>Objectives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Parthasarathy G</dc:creator>
  <cp:lastModifiedBy>Pradipta Mitra</cp:lastModifiedBy>
  <cp:revision>161</cp:revision>
  <dcterms:created xsi:type="dcterms:W3CDTF">2026-07-14T06:00:41Z</dcterms:created>
  <dcterms:modified xsi:type="dcterms:W3CDTF">2026-07-27T13:59:30Z</dcterms:modified>
</cp:coreProperties>
</file>